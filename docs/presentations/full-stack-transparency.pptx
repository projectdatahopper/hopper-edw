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design talk. Twenty minutes, then one customer. I am going to stay off the feature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customer. In a Data Vault that idea becomes a hub, several satellites, a link, then a business-vault table with its own timeline, then a dimension someone queries.
That spread is the point of the method. It is also why these warehouses get hard to live with. The description of the pieces ends up somewhere else: a modeler, a catalog, pipelines generated last quarter, a monitor, a quality report.
Five kinds of information have to stay with the object. The schema. The load logic. Lineage in both directions. The operational record. The quality rules and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 engineer has to be able to view, examine, and edit everything about the object they are standing on. Source, raw vault, business vault, dimensional.
The word that usually gets dropped is edit. Many catalogs and lineage products will show you the problem. Fixing it happens in another window, against another copy of the truth. Seeing and fixing have to be the same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reflex is to buy the best tool for each job. A modeler, a lineage product, a quality tool, a scheduler, the database console, and an ETL tool beside them. Each one can be excellent. That approach is good at depth, at people who live in one product, and at purchasing one category at a time.
What it costs the engineer is the whole picture. One hub's truth is split across tools that do not share a name or a version. You switch windows to answer why a value changed. The model, the tables, and the load drift apart. Lineage becomes a place you can look and not type. A large share of the project becomes the wiring between the tools.
Data Vault multiplies that cost, because the concept was already split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rejection of those tools. Three rules.
One coherent place to view and edit.
Specialist tools stay welcome, as consumers and producers of shared metadata. They are not the only home for a fact the engineer needs.
When there is a trade-off, keep visibility and editability, even when that means less depth in one category.
The metadata stays open. Files, a catalog, exports, ordinary formats. A stronger modeler or a stronger lineage store should be able to attach. It should not become the only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Landing systems stay outside. You model them. You publish a contract into the catalog. Raw vault, business vault, and dimensional models bind to catalog names, not to a connection string copied into a pipeline.
The catalog is the bus, not a fifth product you go and visit. Harvest writes history. It does not rewrite the contract. Publishing a target layout is a deliberate write after a load.
One resource definition group lists the models. Business vault and the dimensional layer join that same group. They do not start a second context.
Do not read the file types aloud. The picture is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Generation is allowed only because the result stays inspectable. From the object you open the pipeline that loads it, read the DDL, and see the layout published back to the catalog. The same checks run on the canvas and in the workflow.
A black box would leave the previous picture intact and break the principle. Edit is doing real work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large organization the sources do not hold still. Columns move, lengths change, feeds appear, and the hubs and marts already depend on yesterday's shape.
Detection is the easy part. The design question is how you notice without silently rewriting the contract everyone is loading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deciding, and loading are three different acts.
Harvest stores what the live source looks like now. It does not change the model.
The schema gate decides whether this wave may load, against the catalog contract, a version tag, the harvest, the target tables. Failing the wave is a policy.
The quality gate decides whether the rows are acceptable. Structure and content are different questions.
The update loads, and then publishes the layouts back.
Under those four jobs, not on the slide: schema validation against the catalog, downstream lineage, remediation proposals, reports, the schema-drift gate, the data-quality gate.
One rule to say: if a column grew, length remediation expands the model and the target from the catalog length. It does not edit the catalog. If the live source is the new truth, that is a separate write you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model-driven loader is fine until the source is a join, a JSON document, a stream, or a file with no types and no lengths.
The tempting fix is a pipeline written beside the model. It works. The special case is no longer something you can open from the model, and the object stops being owned.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special case stays inside the source model. A query. A JSON extraction. A pipeline card. A typing rule for a source that brought no types. A JDBC view of that same model, when another tool needs to query it.
Those are still objects. You view them and edit them where the rest of the source lives. The vault load that follows is the same generated shape as the ordinary table.
Do not configure any of these. If a sentence starts to explain the driver URL, stop. The point is where complexity is allowed to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this is running, the chain is long, often parallel, and almost always on another machine. Failure looks like silence.
A lineage drawing that cannot say how long the last run took, or that a copy has stalled, does not answer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 facts sit on the object you already have open.
A Gantt or a performance chart is for one question: what was concurrent? Stall detection, the metrics profile, and execution maps are the same idea at smaller print. Leave them unspoken unless someone asks.
The journey perspective lists sources, controls, the three layers, the workflows, and the reports, and it opens the surface you already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sentence. Leave the slides.
Before you walk on: Hop GUI, project retail-example. Postgres is up. One retail update has already finished, so OPS has load_run rows. An execution metrics profile is on, so the duration pane on retail-360.hdv is populated. Do not start a load.
1. Sidebar EDW Journey, group retail-sources. Point at Sources, Controls, and Raw Data Vault. Do not expand the tree. (30s)
2. Double-click source-tables-crm.hsm. Click the customer_address card. Do not open the query All customer info. (40s)
3. Double-click retail-360.hdv. Click the body of sat_customer_address, not the name. Show update pipeline. Point at one transform. Close it. (70s)
4. Double-click the name sat_customer_address. Lineage tab. Parent hub_customer, feed E2E-customer-address. Do not open Business Vault or the dimension. (50s)
5. Close the dialog. The right-hand pane is the load-duration overview. If it is empty, read the last-run line on the Journey model node. Stop. (30s)
Out, even if you are ahead: SCD2, facts, the semantic layer, masking, AI help.
Fallback stills, in order: source-modeler-retail-example-with-query-dialog-generated-sql.png, data-vault-model-retail-example.png, data-vault-satellite-dialog-lineage-tab.png, data-vault-retail-360-model-with-duration-metrics.png.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to keep.
If you can't see it, you can't own it.
Best tool for each job gives you the best parts. The engineer still needs the whole picture.
Looking, deciding, and loading are three different acts.
The page to take away is the architecture page. Stop. Do not preview a roadmap.
If asked: the semantic layer is another editable surface on the warehouse, not a separate BI catalog. AI proposals are reviewed before apply. A lineage product can sit on the open metadata. It cannot be the only place the engineer is allowed to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46304" cy="1371600"/>
          </a:xfrm>
          <a:prstGeom prst="rect">
            <a:avLst/>
          </a:prstGeom>
          <a:solidFill>
            <a:srgbClr val="C47A12"/>
          </a:solidFill>
          <a:ln w="12700">
            <a:solidFill>
              <a:srgbClr val="C47A12"/>
            </a:solidFill>
            <a:prstDash val="solid"/>
          </a:ln>
        </p:spPr>
      </p:sp>
      <p:sp>
        <p:nvSpPr>
          <p:cNvPr id="3" name="Shape 1"/>
          <p:cNvSpPr/>
          <p:nvPr/>
        </p:nvSpPr>
        <p:spPr>
          <a:xfrm>
            <a:off x="0" y="1371600"/>
            <a:ext cx="146304" cy="1371600"/>
          </a:xfrm>
          <a:prstGeom prst="rect">
            <a:avLst/>
          </a:prstGeom>
          <a:solidFill>
            <a:srgbClr val="4A5568"/>
          </a:solidFill>
          <a:ln w="12700">
            <a:solidFill>
              <a:srgbClr val="4A5568"/>
            </a:solidFill>
            <a:prstDash val="solid"/>
          </a:ln>
        </p:spPr>
      </p:sp>
      <p:sp>
        <p:nvSpPr>
          <p:cNvPr id="4" name="Shape 2"/>
          <p:cNvSpPr/>
          <p:nvPr/>
        </p:nvSpPr>
        <p:spPr>
          <a:xfrm>
            <a:off x="0" y="2743200"/>
            <a:ext cx="146304" cy="1371600"/>
          </a:xfrm>
          <a:prstGeom prst="rect">
            <a:avLst/>
          </a:prstGeom>
          <a:solidFill>
            <a:srgbClr val="1A5FB4"/>
          </a:solidFill>
          <a:ln w="12700">
            <a:solidFill>
              <a:srgbClr val="1A5FB4"/>
            </a:solidFill>
            <a:prstDash val="solid"/>
          </a:ln>
        </p:spPr>
      </p:sp>
      <p:sp>
        <p:nvSpPr>
          <p:cNvPr id="5" name="Shape 3"/>
          <p:cNvSpPr/>
          <p:nvPr/>
        </p:nvSpPr>
        <p:spPr>
          <a:xfrm>
            <a:off x="0" y="4114800"/>
            <a:ext cx="146304" cy="1371600"/>
          </a:xfrm>
          <a:prstGeom prst="rect">
            <a:avLst/>
          </a:prstGeom>
          <a:solidFill>
            <a:srgbClr val="6B3FA0"/>
          </a:solidFill>
          <a:ln w="12700">
            <a:solidFill>
              <a:srgbClr val="6B3FA0"/>
            </a:solidFill>
            <a:prstDash val="solid"/>
          </a:ln>
        </p:spPr>
      </p:sp>
      <p:sp>
        <p:nvSpPr>
          <p:cNvPr id="6" name="Shape 4"/>
          <p:cNvSpPr/>
          <p:nvPr/>
        </p:nvSpPr>
        <p:spPr>
          <a:xfrm>
            <a:off x="0" y="5486400"/>
            <a:ext cx="146304" cy="1371600"/>
          </a:xfrm>
          <a:prstGeom prst="rect">
            <a:avLst/>
          </a:prstGeom>
          <a:solidFill>
            <a:srgbClr val="1E7A46"/>
          </a:solidFill>
          <a:ln w="12700">
            <a:solidFill>
              <a:srgbClr val="1E7A46"/>
            </a:solidFill>
            <a:prstDash val="solid"/>
          </a:ln>
        </p:spPr>
      </p:sp>
      <p:sp>
        <p:nvSpPr>
          <p:cNvPr id="7" name="Text 5"/>
          <p:cNvSpPr/>
          <p:nvPr/>
        </p:nvSpPr>
        <p:spPr>
          <a:xfrm>
            <a:off x="640080" y="1691640"/>
            <a:ext cx="10972800" cy="329184"/>
          </a:xfrm>
          <a:prstGeom prst="rect">
            <a:avLst/>
          </a:prstGeom>
          <a:noFill/>
          <a:ln/>
        </p:spPr>
        <p:txBody>
          <a:bodyPr wrap="square" lIns="0" tIns="0" rIns="0" bIns="0" rtlCol="0" anchor="ctr"/>
          <a:lstStyle/>
          <a:p>
            <a:pPr indent="0" marL="0">
              <a:buNone/>
            </a:pPr>
            <a:r>
              <a:rPr lang="en-US" sz="1400" spc="160" kern="0" dirty="0">
                <a:solidFill>
                  <a:srgbClr val="E7C98A"/>
                </a:solidFill>
                <a:latin typeface="IBM Plex Mono" pitchFamily="34" charset="0"/>
                <a:ea typeface="IBM Plex Mono" pitchFamily="34" charset="-122"/>
                <a:cs typeface="IBM Plex Mono" pitchFamily="34" charset="-120"/>
              </a:rPr>
              <a:t>A DESIGN TALK</a:t>
            </a:r>
            <a:endParaRPr lang="en-US" sz="1400" dirty="0"/>
          </a:p>
        </p:txBody>
      </p:sp>
      <p:sp>
        <p:nvSpPr>
          <p:cNvPr id="8" name="Text 6"/>
          <p:cNvSpPr/>
          <p:nvPr/>
        </p:nvSpPr>
        <p:spPr>
          <a:xfrm>
            <a:off x="640080" y="2103120"/>
            <a:ext cx="10972800" cy="868680"/>
          </a:xfrm>
          <a:prstGeom prst="rect">
            <a:avLst/>
          </a:prstGeom>
          <a:noFill/>
          <a:ln/>
        </p:spPr>
        <p:txBody>
          <a:bodyPr wrap="square" lIns="0" tIns="0" rIns="0" bIns="0" rtlCol="0" anchor="ctr"/>
          <a:lstStyle/>
          <a:p>
            <a:pPr indent="0" marL="0">
              <a:buNone/>
            </a:pPr>
            <a:r>
              <a:rPr lang="en-US" sz="4800" b="1" dirty="0">
                <a:solidFill>
                  <a:srgbClr val="FFFFFF"/>
                </a:solidFill>
                <a:latin typeface="IBM Plex Sans" pitchFamily="34" charset="0"/>
                <a:ea typeface="IBM Plex Sans" pitchFamily="34" charset="-122"/>
                <a:cs typeface="IBM Plex Sans" pitchFamily="34" charset="-120"/>
              </a:rPr>
              <a:t>Full-stack transparency</a:t>
            </a:r>
            <a:endParaRPr lang="en-US" sz="4800" dirty="0"/>
          </a:p>
        </p:txBody>
      </p:sp>
      <p:sp>
        <p:nvSpPr>
          <p:cNvPr id="9" name="Text 7"/>
          <p:cNvSpPr/>
          <p:nvPr/>
        </p:nvSpPr>
        <p:spPr>
          <a:xfrm>
            <a:off x="640080" y="3108960"/>
            <a:ext cx="10058400" cy="411480"/>
          </a:xfrm>
          <a:prstGeom prst="rect">
            <a:avLst/>
          </a:prstGeom>
          <a:noFill/>
          <a:ln/>
        </p:spPr>
        <p:txBody>
          <a:bodyPr wrap="square" lIns="0" tIns="0" rIns="0" bIns="0" rtlCol="0" anchor="ctr"/>
          <a:lstStyle/>
          <a:p>
            <a:pPr indent="0" marL="0">
              <a:buNone/>
            </a:pPr>
            <a:r>
              <a:rPr lang="en-US" sz="2200" dirty="0">
                <a:solidFill>
                  <a:srgbClr val="C5CED8"/>
                </a:solidFill>
                <a:latin typeface="IBM Plex Sans" pitchFamily="34" charset="0"/>
                <a:ea typeface="IBM Plex Sans" pitchFamily="34" charset="-122"/>
                <a:cs typeface="IBM Plex Sans" pitchFamily="34" charset="-120"/>
              </a:rPr>
              <a:t>Design principles for a Data Vault you can own</a:t>
            </a:r>
            <a:endParaRPr lang="en-US" sz="2200" dirty="0"/>
          </a:p>
        </p:txBody>
      </p:sp>
      <p:sp>
        <p:nvSpPr>
          <p:cNvPr id="10" name="Text 8"/>
          <p:cNvSpPr/>
          <p:nvPr/>
        </p:nvSpPr>
        <p:spPr>
          <a:xfrm>
            <a:off x="640080" y="4892040"/>
            <a:ext cx="10058400" cy="365760"/>
          </a:xfrm>
          <a:prstGeom prst="rect">
            <a:avLst/>
          </a:prstGeom>
          <a:noFill/>
          <a:ln/>
        </p:spPr>
        <p:txBody>
          <a:bodyPr wrap="square" lIns="0" tIns="0" rIns="0" bIns="0" rtlCol="0" anchor="ctr"/>
          <a:lstStyle/>
          <a:p>
            <a:pPr indent="0" marL="0">
              <a:buNone/>
            </a:pPr>
            <a:r>
              <a:rPr lang="en-US" sz="1800" i="1" dirty="0">
                <a:solidFill>
                  <a:srgbClr val="E7C98A"/>
                </a:solidFill>
                <a:latin typeface="IBM Plex Sans" pitchFamily="34" charset="0"/>
                <a:ea typeface="IBM Plex Sans" pitchFamily="34" charset="-122"/>
                <a:cs typeface="IBM Plex Sans" pitchFamily="34" charset="-120"/>
              </a:rPr>
              <a:t>If you can't see it, you can't own it.</a:t>
            </a:r>
            <a:endParaRPr lang="en-US" sz="1800" dirty="0"/>
          </a:p>
        </p:txBody>
      </p:sp>
      <p:sp>
        <p:nvSpPr>
          <p:cNvPr id="11" name="Text 9"/>
          <p:cNvSpPr/>
          <p:nvPr/>
        </p:nvSpPr>
        <p:spPr>
          <a:xfrm>
            <a:off x="640080" y="6263640"/>
            <a:ext cx="7315200" cy="274320"/>
          </a:xfrm>
          <a:prstGeom prst="rect">
            <a:avLst/>
          </a:prstGeom>
          <a:noFill/>
          <a:ln/>
        </p:spPr>
        <p:txBody>
          <a:bodyPr wrap="square" lIns="0" tIns="0" rIns="0" bIns="0" rtlCol="0" anchor="ctr"/>
          <a:lstStyle/>
          <a:p>
            <a:pPr indent="0" marL="0">
              <a:buNone/>
            </a:pPr>
            <a:r>
              <a:rPr lang="en-US" sz="1400" dirty="0">
                <a:solidFill>
                  <a:srgbClr val="8A97A8"/>
                </a:solidFill>
                <a:latin typeface="IBM Plex Sans" pitchFamily="34" charset="0"/>
                <a:ea typeface="IBM Plex Sans" pitchFamily="34" charset="-122"/>
                <a:cs typeface="IBM Plex Sans" pitchFamily="34" charset="-120"/>
              </a:rPr>
              <a:t>Data Hopper EDW   ·   20 minutes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11155680" cy="256032"/>
          </a:xfrm>
          <a:prstGeom prst="rect">
            <a:avLst/>
          </a:prstGeom>
          <a:noFill/>
          <a:ln/>
        </p:spPr>
        <p:txBody>
          <a:bodyPr wrap="square" lIns="0" tIns="0" rIns="0" bIns="0" rtlCol="0" anchor="ctr"/>
          <a:lstStyle/>
          <a:p>
            <a:pPr indent="0" marL="0">
              <a:buNone/>
            </a:pPr>
            <a:r>
              <a:rPr lang="en-US" sz="1200" spc="120" kern="0" dirty="0">
                <a:solidFill>
                  <a:srgbClr val="0D6E8C"/>
                </a:solidFill>
                <a:latin typeface="IBM Plex Mono" pitchFamily="34" charset="0"/>
                <a:ea typeface="IBM Plex Mono" pitchFamily="34" charset="-122"/>
                <a:cs typeface="IBM Plex Mono" pitchFamily="34" charset="-120"/>
              </a:rPr>
              <a:t>THE SPREAD</a:t>
            </a:r>
            <a:endParaRPr lang="en-US" sz="1200" dirty="0"/>
          </a:p>
        </p:txBody>
      </p:sp>
      <p:sp>
        <p:nvSpPr>
          <p:cNvPr id="3" name="Text 1"/>
          <p:cNvSpPr/>
          <p:nvPr/>
        </p:nvSpPr>
        <p:spPr>
          <a:xfrm>
            <a:off x="502920" y="658368"/>
            <a:ext cx="11155680" cy="640080"/>
          </a:xfrm>
          <a:prstGeom prst="rect">
            <a:avLst/>
          </a:prstGeom>
          <a:noFill/>
          <a:ln/>
        </p:spPr>
        <p:txBody>
          <a:bodyPr wrap="square" lIns="0" tIns="0" rIns="0" bIns="0" rtlCol="0" anchor="ctr"/>
          <a:lstStyle/>
          <a:p>
            <a:pPr indent="0" marL="0">
              <a:buNone/>
            </a:pPr>
            <a:r>
              <a:rPr lang="en-US" sz="3200" b="1" dirty="0">
                <a:solidFill>
                  <a:srgbClr val="1A2332"/>
                </a:solidFill>
                <a:latin typeface="IBM Plex Sans" pitchFamily="34" charset="0"/>
                <a:ea typeface="IBM Plex Sans" pitchFamily="34" charset="-122"/>
                <a:cs typeface="IBM Plex Sans" pitchFamily="34" charset="-120"/>
              </a:rPr>
              <a:t>One concept, many pieces</a:t>
            </a:r>
            <a:endParaRPr lang="en-US" sz="3200" dirty="0"/>
          </a:p>
        </p:txBody>
      </p:sp>
      <p:sp>
        <p:nvSpPr>
          <p:cNvPr id="4" name="Text 2"/>
          <p:cNvSpPr/>
          <p:nvPr/>
        </p:nvSpPr>
        <p:spPr>
          <a:xfrm>
            <a:off x="502920" y="1508760"/>
            <a:ext cx="5760720" cy="1051560"/>
          </a:xfrm>
          <a:prstGeom prst="rect">
            <a:avLst/>
          </a:prstGeom>
          <a:noFill/>
          <a:ln/>
        </p:spPr>
        <p:txBody>
          <a:bodyPr wrap="square" lIns="0" tIns="0" rIns="0" bIns="0" rtlCol="0" anchor="ctr"/>
          <a:lstStyle/>
          <a:p>
            <a:pPr indent="0" marL="0">
              <a:buNone/>
            </a:pPr>
            <a:r>
              <a:rPr lang="en-US" sz="2600" dirty="0">
                <a:solidFill>
                  <a:srgbClr val="1A2332"/>
                </a:solidFill>
                <a:latin typeface="IBM Plex Sans" pitchFamily="34" charset="0"/>
                <a:ea typeface="IBM Plex Sans" pitchFamily="34" charset="-122"/>
                <a:cs typeface="IBM Plex Sans" pitchFamily="34" charset="-120"/>
              </a:rPr>
              <a:t>A customer does not stay a customer table.</a:t>
            </a:r>
            <a:endParaRPr lang="en-US" sz="2600" dirty="0"/>
          </a:p>
        </p:txBody>
      </p:sp>
      <p:sp>
        <p:nvSpPr>
          <p:cNvPr id="5" name="Text 3"/>
          <p:cNvSpPr/>
          <p:nvPr/>
        </p:nvSpPr>
        <p:spPr>
          <a:xfrm>
            <a:off x="502920" y="2743200"/>
            <a:ext cx="5760720" cy="868680"/>
          </a:xfrm>
          <a:prstGeom prst="rect">
            <a:avLst/>
          </a:prstGeom>
          <a:noFill/>
          <a:ln/>
        </p:spPr>
        <p:txBody>
          <a:bodyPr wrap="square" lIns="0" tIns="0" rIns="0" bIns="0" rtlCol="0" anchor="ctr"/>
          <a:lstStyle/>
          <a:p>
            <a:pPr indent="0" marL="0">
              <a:buNone/>
            </a:pPr>
            <a:r>
              <a:rPr lang="en-US" sz="1800" dirty="0">
                <a:solidFill>
                  <a:srgbClr val="5A6A7E"/>
                </a:solidFill>
                <a:latin typeface="IBM Plex Sans" pitchFamily="34" charset="0"/>
                <a:ea typeface="IBM Plex Sans" pitchFamily="34" charset="-122"/>
                <a:cs typeface="IBM Plex Sans" pitchFamily="34" charset="-120"/>
              </a:rPr>
              <a:t>The failure is not the modeling technique. The description of the pieces ends up somewhere else.</a:t>
            </a:r>
            <a:endParaRPr lang="en-US" sz="1800" dirty="0"/>
          </a:p>
        </p:txBody>
      </p:sp>
      <p:sp>
        <p:nvSpPr>
          <p:cNvPr id="6" name="Shape 4"/>
          <p:cNvSpPr/>
          <p:nvPr/>
        </p:nvSpPr>
        <p:spPr>
          <a:xfrm>
            <a:off x="6720840" y="1508760"/>
            <a:ext cx="4937760" cy="731520"/>
          </a:xfrm>
          <a:prstGeom prst="rect">
            <a:avLst/>
          </a:prstGeom>
          <a:solidFill>
            <a:srgbClr val="FFF6E8"/>
          </a:solidFill>
          <a:ln w="12700">
            <a:solidFill>
              <a:srgbClr val="FFF6E8"/>
            </a:solidFill>
            <a:prstDash val="solid"/>
          </a:ln>
        </p:spPr>
      </p:sp>
      <p:sp>
        <p:nvSpPr>
          <p:cNvPr id="7" name="Shape 5"/>
          <p:cNvSpPr/>
          <p:nvPr/>
        </p:nvSpPr>
        <p:spPr>
          <a:xfrm>
            <a:off x="6720840" y="1508760"/>
            <a:ext cx="4937760" cy="73152"/>
          </a:xfrm>
          <a:prstGeom prst="rect">
            <a:avLst/>
          </a:prstGeom>
          <a:solidFill>
            <a:srgbClr val="C47A12"/>
          </a:solidFill>
          <a:ln w="12700">
            <a:solidFill>
              <a:srgbClr val="C47A12"/>
            </a:solidFill>
            <a:prstDash val="solid"/>
          </a:ln>
        </p:spPr>
      </p:sp>
      <p:sp>
        <p:nvSpPr>
          <p:cNvPr id="8" name="Text 6"/>
          <p:cNvSpPr/>
          <p:nvPr/>
        </p:nvSpPr>
        <p:spPr>
          <a:xfrm>
            <a:off x="6903720" y="1636776"/>
            <a:ext cx="4572000" cy="310896"/>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Customer</a:t>
            </a:r>
            <a:endParaRPr lang="en-US" sz="1600" dirty="0"/>
          </a:p>
        </p:txBody>
      </p:sp>
      <p:sp>
        <p:nvSpPr>
          <p:cNvPr id="9" name="Text 7"/>
          <p:cNvSpPr/>
          <p:nvPr/>
        </p:nvSpPr>
        <p:spPr>
          <a:xfrm>
            <a:off x="6903720" y="1929384"/>
            <a:ext cx="4572000" cy="237744"/>
          </a:xfrm>
          <a:prstGeom prst="rect">
            <a:avLst/>
          </a:prstGeom>
          <a:noFill/>
          <a:ln/>
        </p:spPr>
        <p:txBody>
          <a:bodyPr wrap="square" lIns="0" tIns="0" rIns="0" bIns="0" rtlCol="0" anchor="ctr"/>
          <a:lstStyle/>
          <a:p>
            <a:pPr indent="0" marL="0">
              <a:buNone/>
            </a:pPr>
            <a:r>
              <a:rPr lang="en-US" sz="1300" dirty="0">
                <a:solidFill>
                  <a:srgbClr val="5A6A7E"/>
                </a:solidFill>
                <a:latin typeface="IBM Plex Sans" pitchFamily="34" charset="0"/>
                <a:ea typeface="IBM Plex Sans" pitchFamily="34" charset="-122"/>
                <a:cs typeface="IBM Plex Sans" pitchFamily="34" charset="-120"/>
              </a:rPr>
              <a:t>the business concept</a:t>
            </a:r>
            <a:endParaRPr lang="en-US" sz="1300" dirty="0"/>
          </a:p>
        </p:txBody>
      </p:sp>
      <p:sp>
        <p:nvSpPr>
          <p:cNvPr id="10" name="Shape 8"/>
          <p:cNvSpPr/>
          <p:nvPr/>
        </p:nvSpPr>
        <p:spPr>
          <a:xfrm>
            <a:off x="6720840" y="2350008"/>
            <a:ext cx="4937760" cy="731520"/>
          </a:xfrm>
          <a:prstGeom prst="rect">
            <a:avLst/>
          </a:prstGeom>
          <a:solidFill>
            <a:srgbClr val="E8F0FB"/>
          </a:solidFill>
          <a:ln w="12700">
            <a:solidFill>
              <a:srgbClr val="E8F0FB"/>
            </a:solidFill>
            <a:prstDash val="solid"/>
          </a:ln>
        </p:spPr>
      </p:sp>
      <p:sp>
        <p:nvSpPr>
          <p:cNvPr id="11" name="Shape 9"/>
          <p:cNvSpPr/>
          <p:nvPr/>
        </p:nvSpPr>
        <p:spPr>
          <a:xfrm>
            <a:off x="6720840" y="2350008"/>
            <a:ext cx="4937760" cy="73152"/>
          </a:xfrm>
          <a:prstGeom prst="rect">
            <a:avLst/>
          </a:prstGeom>
          <a:solidFill>
            <a:srgbClr val="1A5FB4"/>
          </a:solidFill>
          <a:ln w="12700">
            <a:solidFill>
              <a:srgbClr val="1A5FB4"/>
            </a:solidFill>
            <a:prstDash val="solid"/>
          </a:ln>
        </p:spPr>
      </p:sp>
      <p:sp>
        <p:nvSpPr>
          <p:cNvPr id="12" name="Text 10"/>
          <p:cNvSpPr/>
          <p:nvPr/>
        </p:nvSpPr>
        <p:spPr>
          <a:xfrm>
            <a:off x="6903720" y="2478024"/>
            <a:ext cx="4572000" cy="310896"/>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Hub and satellites</a:t>
            </a:r>
            <a:endParaRPr lang="en-US" sz="1600" dirty="0"/>
          </a:p>
        </p:txBody>
      </p:sp>
      <p:sp>
        <p:nvSpPr>
          <p:cNvPr id="13" name="Text 11"/>
          <p:cNvSpPr/>
          <p:nvPr/>
        </p:nvSpPr>
        <p:spPr>
          <a:xfrm>
            <a:off x="6903720" y="2770632"/>
            <a:ext cx="4572000" cy="237744"/>
          </a:xfrm>
          <a:prstGeom prst="rect">
            <a:avLst/>
          </a:prstGeom>
          <a:noFill/>
          <a:ln/>
        </p:spPr>
        <p:txBody>
          <a:bodyPr wrap="square" lIns="0" tIns="0" rIns="0" bIns="0" rtlCol="0" anchor="ctr"/>
          <a:lstStyle/>
          <a:p>
            <a:pPr indent="0" marL="0">
              <a:buNone/>
            </a:pPr>
            <a:r>
              <a:rPr lang="en-US" sz="1300" dirty="0">
                <a:solidFill>
                  <a:srgbClr val="5A6A7E"/>
                </a:solidFill>
                <a:latin typeface="IBM Plex Sans" pitchFamily="34" charset="0"/>
                <a:ea typeface="IBM Plex Sans" pitchFamily="34" charset="-122"/>
                <a:cs typeface="IBM Plex Sans" pitchFamily="34" charset="-120"/>
              </a:rPr>
              <a:t>raw vault</a:t>
            </a:r>
            <a:endParaRPr lang="en-US" sz="1300" dirty="0"/>
          </a:p>
        </p:txBody>
      </p:sp>
      <p:sp>
        <p:nvSpPr>
          <p:cNvPr id="14" name="Shape 12"/>
          <p:cNvSpPr/>
          <p:nvPr/>
        </p:nvSpPr>
        <p:spPr>
          <a:xfrm>
            <a:off x="6720840" y="3191256"/>
            <a:ext cx="4937760" cy="731520"/>
          </a:xfrm>
          <a:prstGeom prst="rect">
            <a:avLst/>
          </a:prstGeom>
          <a:solidFill>
            <a:srgbClr val="E8F0FB"/>
          </a:solidFill>
          <a:ln w="12700">
            <a:solidFill>
              <a:srgbClr val="E8F0FB"/>
            </a:solidFill>
            <a:prstDash val="solid"/>
          </a:ln>
        </p:spPr>
      </p:sp>
      <p:sp>
        <p:nvSpPr>
          <p:cNvPr id="15" name="Shape 13"/>
          <p:cNvSpPr/>
          <p:nvPr/>
        </p:nvSpPr>
        <p:spPr>
          <a:xfrm>
            <a:off x="6720840" y="3191256"/>
            <a:ext cx="4937760" cy="73152"/>
          </a:xfrm>
          <a:prstGeom prst="rect">
            <a:avLst/>
          </a:prstGeom>
          <a:solidFill>
            <a:srgbClr val="1A5FB4"/>
          </a:solidFill>
          <a:ln w="12700">
            <a:solidFill>
              <a:srgbClr val="1A5FB4"/>
            </a:solidFill>
            <a:prstDash val="solid"/>
          </a:ln>
        </p:spPr>
      </p:sp>
      <p:sp>
        <p:nvSpPr>
          <p:cNvPr id="16" name="Text 14"/>
          <p:cNvSpPr/>
          <p:nvPr/>
        </p:nvSpPr>
        <p:spPr>
          <a:xfrm>
            <a:off x="6903720" y="3319272"/>
            <a:ext cx="4572000" cy="310896"/>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Link</a:t>
            </a:r>
            <a:endParaRPr lang="en-US" sz="1600" dirty="0"/>
          </a:p>
        </p:txBody>
      </p:sp>
      <p:sp>
        <p:nvSpPr>
          <p:cNvPr id="17" name="Text 15"/>
          <p:cNvSpPr/>
          <p:nvPr/>
        </p:nvSpPr>
        <p:spPr>
          <a:xfrm>
            <a:off x="6903720" y="3611880"/>
            <a:ext cx="4572000" cy="237744"/>
          </a:xfrm>
          <a:prstGeom prst="rect">
            <a:avLst/>
          </a:prstGeom>
          <a:noFill/>
          <a:ln/>
        </p:spPr>
        <p:txBody>
          <a:bodyPr wrap="square" lIns="0" tIns="0" rIns="0" bIns="0" rtlCol="0" anchor="ctr"/>
          <a:lstStyle/>
          <a:p>
            <a:pPr indent="0" marL="0">
              <a:buNone/>
            </a:pPr>
            <a:r>
              <a:rPr lang="en-US" sz="1300" dirty="0">
                <a:solidFill>
                  <a:srgbClr val="5A6A7E"/>
                </a:solidFill>
                <a:latin typeface="IBM Plex Sans" pitchFamily="34" charset="0"/>
                <a:ea typeface="IBM Plex Sans" pitchFamily="34" charset="-122"/>
                <a:cs typeface="IBM Plex Sans" pitchFamily="34" charset="-120"/>
              </a:rPr>
              <a:t>the relationship</a:t>
            </a:r>
            <a:endParaRPr lang="en-US" sz="1300" dirty="0"/>
          </a:p>
        </p:txBody>
      </p:sp>
      <p:sp>
        <p:nvSpPr>
          <p:cNvPr id="18" name="Shape 16"/>
          <p:cNvSpPr/>
          <p:nvPr/>
        </p:nvSpPr>
        <p:spPr>
          <a:xfrm>
            <a:off x="6720840" y="4032504"/>
            <a:ext cx="4937760" cy="731520"/>
          </a:xfrm>
          <a:prstGeom prst="rect">
            <a:avLst/>
          </a:prstGeom>
          <a:solidFill>
            <a:srgbClr val="F3EBFB"/>
          </a:solidFill>
          <a:ln w="12700">
            <a:solidFill>
              <a:srgbClr val="F3EBFB"/>
            </a:solidFill>
            <a:prstDash val="solid"/>
          </a:ln>
        </p:spPr>
      </p:sp>
      <p:sp>
        <p:nvSpPr>
          <p:cNvPr id="19" name="Shape 17"/>
          <p:cNvSpPr/>
          <p:nvPr/>
        </p:nvSpPr>
        <p:spPr>
          <a:xfrm>
            <a:off x="6720840" y="4032504"/>
            <a:ext cx="4937760" cy="73152"/>
          </a:xfrm>
          <a:prstGeom prst="rect">
            <a:avLst/>
          </a:prstGeom>
          <a:solidFill>
            <a:srgbClr val="6B3FA0"/>
          </a:solidFill>
          <a:ln w="12700">
            <a:solidFill>
              <a:srgbClr val="6B3FA0"/>
            </a:solidFill>
            <a:prstDash val="solid"/>
          </a:ln>
        </p:spPr>
      </p:sp>
      <p:sp>
        <p:nvSpPr>
          <p:cNvPr id="20" name="Text 18"/>
          <p:cNvSpPr/>
          <p:nvPr/>
        </p:nvSpPr>
        <p:spPr>
          <a:xfrm>
            <a:off x="6903720" y="4160520"/>
            <a:ext cx="4572000" cy="310896"/>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Business vault</a:t>
            </a:r>
            <a:endParaRPr lang="en-US" sz="1600" dirty="0"/>
          </a:p>
        </p:txBody>
      </p:sp>
      <p:sp>
        <p:nvSpPr>
          <p:cNvPr id="21" name="Text 19"/>
          <p:cNvSpPr/>
          <p:nvPr/>
        </p:nvSpPr>
        <p:spPr>
          <a:xfrm>
            <a:off x="6903720" y="4453128"/>
            <a:ext cx="4572000" cy="237744"/>
          </a:xfrm>
          <a:prstGeom prst="rect">
            <a:avLst/>
          </a:prstGeom>
          <a:noFill/>
          <a:ln/>
        </p:spPr>
        <p:txBody>
          <a:bodyPr wrap="square" lIns="0" tIns="0" rIns="0" bIns="0" rtlCol="0" anchor="ctr"/>
          <a:lstStyle/>
          <a:p>
            <a:pPr indent="0" marL="0">
              <a:buNone/>
            </a:pPr>
            <a:r>
              <a:rPr lang="en-US" sz="1300" dirty="0">
                <a:solidFill>
                  <a:srgbClr val="5A6A7E"/>
                </a:solidFill>
                <a:latin typeface="IBM Plex Sans" pitchFamily="34" charset="0"/>
                <a:ea typeface="IBM Plex Sans" pitchFamily="34" charset="-122"/>
                <a:cs typeface="IBM Plex Sans" pitchFamily="34" charset="-120"/>
              </a:rPr>
              <a:t>its own timeline</a:t>
            </a:r>
            <a:endParaRPr lang="en-US" sz="1300" dirty="0"/>
          </a:p>
        </p:txBody>
      </p:sp>
      <p:sp>
        <p:nvSpPr>
          <p:cNvPr id="22" name="Shape 20"/>
          <p:cNvSpPr/>
          <p:nvPr/>
        </p:nvSpPr>
        <p:spPr>
          <a:xfrm>
            <a:off x="6720840" y="4873752"/>
            <a:ext cx="4937760" cy="731520"/>
          </a:xfrm>
          <a:prstGeom prst="rect">
            <a:avLst/>
          </a:prstGeom>
          <a:solidFill>
            <a:srgbClr val="E7F6ED"/>
          </a:solidFill>
          <a:ln w="12700">
            <a:solidFill>
              <a:srgbClr val="E7F6ED"/>
            </a:solidFill>
            <a:prstDash val="solid"/>
          </a:ln>
        </p:spPr>
      </p:sp>
      <p:sp>
        <p:nvSpPr>
          <p:cNvPr id="23" name="Shape 21"/>
          <p:cNvSpPr/>
          <p:nvPr/>
        </p:nvSpPr>
        <p:spPr>
          <a:xfrm>
            <a:off x="6720840" y="4873752"/>
            <a:ext cx="4937760" cy="73152"/>
          </a:xfrm>
          <a:prstGeom prst="rect">
            <a:avLst/>
          </a:prstGeom>
          <a:solidFill>
            <a:srgbClr val="1E7A46"/>
          </a:solidFill>
          <a:ln w="12700">
            <a:solidFill>
              <a:srgbClr val="1E7A46"/>
            </a:solidFill>
            <a:prstDash val="solid"/>
          </a:ln>
        </p:spPr>
      </p:sp>
      <p:sp>
        <p:nvSpPr>
          <p:cNvPr id="24" name="Text 22"/>
          <p:cNvSpPr/>
          <p:nvPr/>
        </p:nvSpPr>
        <p:spPr>
          <a:xfrm>
            <a:off x="6903720" y="5001768"/>
            <a:ext cx="4572000" cy="310896"/>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Dimension</a:t>
            </a:r>
            <a:endParaRPr lang="en-US" sz="1600" dirty="0"/>
          </a:p>
        </p:txBody>
      </p:sp>
      <p:sp>
        <p:nvSpPr>
          <p:cNvPr id="25" name="Text 23"/>
          <p:cNvSpPr/>
          <p:nvPr/>
        </p:nvSpPr>
        <p:spPr>
          <a:xfrm>
            <a:off x="6903720" y="5294376"/>
            <a:ext cx="4572000" cy="237744"/>
          </a:xfrm>
          <a:prstGeom prst="rect">
            <a:avLst/>
          </a:prstGeom>
          <a:noFill/>
          <a:ln/>
        </p:spPr>
        <p:txBody>
          <a:bodyPr wrap="square" lIns="0" tIns="0" rIns="0" bIns="0" rtlCol="0" anchor="ctr"/>
          <a:lstStyle/>
          <a:p>
            <a:pPr indent="0" marL="0">
              <a:buNone/>
            </a:pPr>
            <a:r>
              <a:rPr lang="en-US" sz="1300" dirty="0">
                <a:solidFill>
                  <a:srgbClr val="5A6A7E"/>
                </a:solidFill>
                <a:latin typeface="IBM Plex Sans" pitchFamily="34" charset="0"/>
                <a:ea typeface="IBM Plex Sans" pitchFamily="34" charset="-122"/>
                <a:cs typeface="IBM Plex Sans" pitchFamily="34" charset="-120"/>
              </a:rPr>
              <a:t>what people query</a:t>
            </a:r>
            <a:endParaRPr lang="en-US" sz="1300" dirty="0"/>
          </a:p>
        </p:txBody>
      </p:sp>
      <p:sp>
        <p:nvSpPr>
          <p:cNvPr id="26" name="Text 24"/>
          <p:cNvSpPr/>
          <p:nvPr/>
        </p:nvSpPr>
        <p:spPr>
          <a:xfrm>
            <a:off x="502920" y="3794760"/>
            <a:ext cx="5760720" cy="256032"/>
          </a:xfrm>
          <a:prstGeom prst="rect">
            <a:avLst/>
          </a:prstGeom>
          <a:noFill/>
          <a:ln/>
        </p:spPr>
        <p:txBody>
          <a:bodyPr wrap="square" lIns="0" tIns="0" rIns="0" bIns="0" rtlCol="0" anchor="ctr"/>
          <a:lstStyle/>
          <a:p>
            <a:pPr indent="0" marL="0">
              <a:buNone/>
            </a:pPr>
            <a:r>
              <a:rPr lang="en-US" sz="1200" spc="100" kern="0" dirty="0">
                <a:solidFill>
                  <a:srgbClr val="5A6A7E"/>
                </a:solidFill>
                <a:latin typeface="IBM Plex Mono" pitchFamily="34" charset="0"/>
                <a:ea typeface="IBM Plex Mono" pitchFamily="34" charset="-122"/>
                <a:cs typeface="IBM Plex Mono" pitchFamily="34" charset="-120"/>
              </a:rPr>
              <a:t>WITH THE OBJECT</a:t>
            </a:r>
            <a:endParaRPr lang="en-US" sz="1200" dirty="0"/>
          </a:p>
        </p:txBody>
      </p:sp>
      <p:sp>
        <p:nvSpPr>
          <p:cNvPr id="27" name="Text 25"/>
          <p:cNvSpPr/>
          <p:nvPr/>
        </p:nvSpPr>
        <p:spPr>
          <a:xfrm>
            <a:off x="502920" y="4114800"/>
            <a:ext cx="5760720" cy="329184"/>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Schema</a:t>
            </a:r>
            <a:endParaRPr lang="en-US" sz="1600" dirty="0"/>
          </a:p>
        </p:txBody>
      </p:sp>
      <p:sp>
        <p:nvSpPr>
          <p:cNvPr id="28" name="Text 26"/>
          <p:cNvSpPr/>
          <p:nvPr/>
        </p:nvSpPr>
        <p:spPr>
          <a:xfrm>
            <a:off x="502920" y="4480560"/>
            <a:ext cx="5760720" cy="329184"/>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Load logic</a:t>
            </a:r>
            <a:endParaRPr lang="en-US" sz="1600" dirty="0"/>
          </a:p>
        </p:txBody>
      </p:sp>
      <p:sp>
        <p:nvSpPr>
          <p:cNvPr id="29" name="Text 27"/>
          <p:cNvSpPr/>
          <p:nvPr/>
        </p:nvSpPr>
        <p:spPr>
          <a:xfrm>
            <a:off x="502920" y="4846320"/>
            <a:ext cx="5760720" cy="329184"/>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Lineage</a:t>
            </a:r>
            <a:endParaRPr lang="en-US" sz="1600" dirty="0"/>
          </a:p>
        </p:txBody>
      </p:sp>
      <p:sp>
        <p:nvSpPr>
          <p:cNvPr id="30" name="Text 28"/>
          <p:cNvSpPr/>
          <p:nvPr/>
        </p:nvSpPr>
        <p:spPr>
          <a:xfrm>
            <a:off x="502920" y="5212080"/>
            <a:ext cx="5760720" cy="329184"/>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Operations</a:t>
            </a:r>
            <a:endParaRPr lang="en-US" sz="1600" dirty="0"/>
          </a:p>
        </p:txBody>
      </p:sp>
      <p:sp>
        <p:nvSpPr>
          <p:cNvPr id="31" name="Text 29"/>
          <p:cNvSpPr/>
          <p:nvPr/>
        </p:nvSpPr>
        <p:spPr>
          <a:xfrm>
            <a:off x="502920" y="5577840"/>
            <a:ext cx="5760720" cy="329184"/>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Quality</a:t>
            </a:r>
            <a:endParaRPr lang="en-US" sz="1600" dirty="0"/>
          </a:p>
        </p:txBody>
      </p:sp>
      <p:sp>
        <p:nvSpPr>
          <p:cNvPr id="32" name="Text 30"/>
          <p:cNvSpPr/>
          <p:nvPr/>
        </p:nvSpPr>
        <p:spPr>
          <a:xfrm>
            <a:off x="502920" y="6473952"/>
            <a:ext cx="6400800" cy="237744"/>
          </a:xfrm>
          <a:prstGeom prst="rect">
            <a:avLst/>
          </a:prstGeom>
          <a:noFill/>
          <a:ln/>
        </p:spPr>
        <p:txBody>
          <a:bodyPr wrap="square" lIns="0" tIns="0" rIns="0" bIns="0" rtlCol="0" anchor="ctr"/>
          <a:lstStyle/>
          <a:p>
            <a:pPr indent="0" marL="0">
              <a:buNone/>
            </a:pPr>
            <a:r>
              <a:rPr lang="en-US" sz="1200" dirty="0">
                <a:solidFill>
                  <a:srgbClr val="5A6A7E"/>
                </a:solidFill>
                <a:latin typeface="IBM Plex Sans" pitchFamily="34" charset="0"/>
                <a:ea typeface="IBM Plex Sans" pitchFamily="34" charset="-122"/>
                <a:cs typeface="IBM Plex Sans" pitchFamily="34" charset="-120"/>
              </a:rPr>
              <a:t>Full-stack transparency</a:t>
            </a:r>
            <a:endParaRPr lang="en-US" sz="1200" dirty="0"/>
          </a:p>
        </p:txBody>
      </p:sp>
      <p:sp>
        <p:nvSpPr>
          <p:cNvPr id="33" name="Text 31"/>
          <p:cNvSpPr/>
          <p:nvPr/>
        </p:nvSpPr>
        <p:spPr>
          <a:xfrm>
            <a:off x="10515600" y="6473952"/>
            <a:ext cx="1170432" cy="237744"/>
          </a:xfrm>
          <a:prstGeom prst="rect">
            <a:avLst/>
          </a:prstGeom>
          <a:noFill/>
          <a:ln/>
        </p:spPr>
        <p:txBody>
          <a:bodyPr wrap="square" lIns="0" tIns="0" rIns="0" bIns="0" rtlCol="0" anchor="ctr"/>
          <a:lstStyle/>
          <a:p>
            <a:pPr algn="r" indent="0" marL="0">
              <a:buNone/>
            </a:pPr>
            <a:r>
              <a:rPr lang="en-US" sz="1200" dirty="0">
                <a:solidFill>
                  <a:srgbClr val="5A6A7E"/>
                </a:solidFill>
                <a:latin typeface="IBM Plex Mono" pitchFamily="34" charset="0"/>
                <a:ea typeface="IBM Plex Mono" pitchFamily="34" charset="-122"/>
                <a:cs typeface="IBM Plex Mono"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11155680" cy="256032"/>
          </a:xfrm>
          <a:prstGeom prst="rect">
            <a:avLst/>
          </a:prstGeom>
          <a:noFill/>
          <a:ln/>
        </p:spPr>
        <p:txBody>
          <a:bodyPr wrap="square" lIns="0" tIns="0" rIns="0" bIns="0" rtlCol="0" anchor="ctr"/>
          <a:lstStyle/>
          <a:p>
            <a:pPr indent="0" marL="0">
              <a:buNone/>
            </a:pPr>
            <a:r>
              <a:rPr lang="en-US" sz="1200" spc="120" kern="0" dirty="0">
                <a:solidFill>
                  <a:srgbClr val="0D6E8C"/>
                </a:solidFill>
                <a:latin typeface="IBM Plex Mono" pitchFamily="34" charset="0"/>
                <a:ea typeface="IBM Plex Mono" pitchFamily="34" charset="-122"/>
                <a:cs typeface="IBM Plex Mono" pitchFamily="34" charset="-120"/>
              </a:rPr>
              <a:t>THE PRINCIPLE</a:t>
            </a:r>
            <a:endParaRPr lang="en-US" sz="1200" dirty="0"/>
          </a:p>
        </p:txBody>
      </p:sp>
      <p:sp>
        <p:nvSpPr>
          <p:cNvPr id="3" name="Text 1"/>
          <p:cNvSpPr/>
          <p:nvPr/>
        </p:nvSpPr>
        <p:spPr>
          <a:xfrm>
            <a:off x="502920" y="658368"/>
            <a:ext cx="11155680" cy="640080"/>
          </a:xfrm>
          <a:prstGeom prst="rect">
            <a:avLst/>
          </a:prstGeom>
          <a:noFill/>
          <a:ln/>
        </p:spPr>
        <p:txBody>
          <a:bodyPr wrap="square" lIns="0" tIns="0" rIns="0" bIns="0" rtlCol="0" anchor="ctr"/>
          <a:lstStyle/>
          <a:p>
            <a:pPr indent="0" marL="0">
              <a:buNone/>
            </a:pPr>
            <a:r>
              <a:rPr lang="en-US" sz="3200" b="1" dirty="0">
                <a:solidFill>
                  <a:srgbClr val="1A2332"/>
                </a:solidFill>
                <a:latin typeface="IBM Plex Sans" pitchFamily="34" charset="0"/>
                <a:ea typeface="IBM Plex Sans" pitchFamily="34" charset="-122"/>
                <a:cs typeface="IBM Plex Sans" pitchFamily="34" charset="-120"/>
              </a:rPr>
              <a:t>View, examine, and edit</a:t>
            </a:r>
            <a:endParaRPr lang="en-US" sz="3200" dirty="0"/>
          </a:p>
        </p:txBody>
      </p:sp>
      <p:sp>
        <p:nvSpPr>
          <p:cNvPr id="4" name="Shape 2"/>
          <p:cNvSpPr/>
          <p:nvPr/>
        </p:nvSpPr>
        <p:spPr>
          <a:xfrm>
            <a:off x="502920" y="1691640"/>
            <a:ext cx="3611880" cy="2148840"/>
          </a:xfrm>
          <a:prstGeom prst="rect">
            <a:avLst/>
          </a:prstGeom>
          <a:solidFill>
            <a:srgbClr val="FFFFFF"/>
          </a:solidFill>
          <a:ln w="12700">
            <a:solidFill>
              <a:srgbClr val="FFFFFF"/>
            </a:solidFill>
            <a:prstDash val="solid"/>
          </a:ln>
        </p:spPr>
      </p:sp>
      <p:sp>
        <p:nvSpPr>
          <p:cNvPr id="5" name="Shape 3"/>
          <p:cNvSpPr/>
          <p:nvPr/>
        </p:nvSpPr>
        <p:spPr>
          <a:xfrm>
            <a:off x="502920" y="1691640"/>
            <a:ext cx="3611880" cy="73152"/>
          </a:xfrm>
          <a:prstGeom prst="rect">
            <a:avLst/>
          </a:prstGeom>
          <a:solidFill>
            <a:srgbClr val="0D6E8C"/>
          </a:solidFill>
          <a:ln w="12700">
            <a:solidFill>
              <a:srgbClr val="0D6E8C"/>
            </a:solidFill>
            <a:prstDash val="solid"/>
          </a:ln>
        </p:spPr>
      </p:sp>
      <p:sp>
        <p:nvSpPr>
          <p:cNvPr id="6" name="Text 4"/>
          <p:cNvSpPr/>
          <p:nvPr/>
        </p:nvSpPr>
        <p:spPr>
          <a:xfrm>
            <a:off x="731520" y="1965960"/>
            <a:ext cx="3154680" cy="502920"/>
          </a:xfrm>
          <a:prstGeom prst="rect">
            <a:avLst/>
          </a:prstGeom>
          <a:noFill/>
          <a:ln/>
        </p:spPr>
        <p:txBody>
          <a:bodyPr wrap="square" lIns="0" tIns="0" rIns="0" bIns="0" rtlCol="0" anchor="ctr"/>
          <a:lstStyle/>
          <a:p>
            <a:pPr indent="0" marL="0">
              <a:buNone/>
            </a:pPr>
            <a:r>
              <a:rPr lang="en-US" sz="2800" b="1" dirty="0">
                <a:solidFill>
                  <a:srgbClr val="1A2332"/>
                </a:solidFill>
                <a:latin typeface="IBM Plex Sans" pitchFamily="34" charset="0"/>
                <a:ea typeface="IBM Plex Sans" pitchFamily="34" charset="-122"/>
                <a:cs typeface="IBM Plex Sans" pitchFamily="34" charset="-120"/>
              </a:rPr>
              <a:t>View</a:t>
            </a:r>
            <a:endParaRPr lang="en-US" sz="2800" dirty="0"/>
          </a:p>
        </p:txBody>
      </p:sp>
      <p:sp>
        <p:nvSpPr>
          <p:cNvPr id="7" name="Text 5"/>
          <p:cNvSpPr/>
          <p:nvPr/>
        </p:nvSpPr>
        <p:spPr>
          <a:xfrm>
            <a:off x="731520" y="2606040"/>
            <a:ext cx="3154680" cy="914400"/>
          </a:xfrm>
          <a:prstGeom prst="rect">
            <a:avLst/>
          </a:prstGeom>
          <a:noFill/>
          <a:ln/>
        </p:spPr>
        <p:txBody>
          <a:bodyPr wrap="square" lIns="0" tIns="0" rIns="0" bIns="0" rtlCol="0" anchor="ctr"/>
          <a:lstStyle/>
          <a:p>
            <a:pPr indent="0" marL="0">
              <a:buNone/>
            </a:pPr>
            <a:r>
              <a:rPr lang="en-US" sz="1600" dirty="0">
                <a:solidFill>
                  <a:srgbClr val="5A6A7E"/>
                </a:solidFill>
                <a:latin typeface="IBM Plex Sans" pitchFamily="34" charset="0"/>
                <a:ea typeface="IBM Plex Sans" pitchFamily="34" charset="-122"/>
                <a:cs typeface="IBM Plex Sans" pitchFamily="34" charset="-120"/>
              </a:rPr>
              <a:t>See the object where you are already working.</a:t>
            </a:r>
            <a:endParaRPr lang="en-US" sz="1600" dirty="0"/>
          </a:p>
        </p:txBody>
      </p:sp>
      <p:sp>
        <p:nvSpPr>
          <p:cNvPr id="8" name="Shape 6"/>
          <p:cNvSpPr/>
          <p:nvPr/>
        </p:nvSpPr>
        <p:spPr>
          <a:xfrm>
            <a:off x="4297680" y="1691640"/>
            <a:ext cx="3611880" cy="2148840"/>
          </a:xfrm>
          <a:prstGeom prst="rect">
            <a:avLst/>
          </a:prstGeom>
          <a:solidFill>
            <a:srgbClr val="FFFFFF"/>
          </a:solidFill>
          <a:ln w="12700">
            <a:solidFill>
              <a:srgbClr val="FFFFFF"/>
            </a:solidFill>
            <a:prstDash val="solid"/>
          </a:ln>
        </p:spPr>
      </p:sp>
      <p:sp>
        <p:nvSpPr>
          <p:cNvPr id="9" name="Shape 7"/>
          <p:cNvSpPr/>
          <p:nvPr/>
        </p:nvSpPr>
        <p:spPr>
          <a:xfrm>
            <a:off x="4297680" y="1691640"/>
            <a:ext cx="3611880" cy="73152"/>
          </a:xfrm>
          <a:prstGeom prst="rect">
            <a:avLst/>
          </a:prstGeom>
          <a:solidFill>
            <a:srgbClr val="0D6E8C"/>
          </a:solidFill>
          <a:ln w="12700">
            <a:solidFill>
              <a:srgbClr val="0D6E8C"/>
            </a:solidFill>
            <a:prstDash val="solid"/>
          </a:ln>
        </p:spPr>
      </p:sp>
      <p:sp>
        <p:nvSpPr>
          <p:cNvPr id="10" name="Text 8"/>
          <p:cNvSpPr/>
          <p:nvPr/>
        </p:nvSpPr>
        <p:spPr>
          <a:xfrm>
            <a:off x="4526280" y="1965960"/>
            <a:ext cx="3154680" cy="502920"/>
          </a:xfrm>
          <a:prstGeom prst="rect">
            <a:avLst/>
          </a:prstGeom>
          <a:noFill/>
          <a:ln/>
        </p:spPr>
        <p:txBody>
          <a:bodyPr wrap="square" lIns="0" tIns="0" rIns="0" bIns="0" rtlCol="0" anchor="ctr"/>
          <a:lstStyle/>
          <a:p>
            <a:pPr indent="0" marL="0">
              <a:buNone/>
            </a:pPr>
            <a:r>
              <a:rPr lang="en-US" sz="2800" b="1" dirty="0">
                <a:solidFill>
                  <a:srgbClr val="1A2332"/>
                </a:solidFill>
                <a:latin typeface="IBM Plex Sans" pitchFamily="34" charset="0"/>
                <a:ea typeface="IBM Plex Sans" pitchFamily="34" charset="-122"/>
                <a:cs typeface="IBM Plex Sans" pitchFamily="34" charset="-120"/>
              </a:rPr>
              <a:t>Examine</a:t>
            </a:r>
            <a:endParaRPr lang="en-US" sz="2800" dirty="0"/>
          </a:p>
        </p:txBody>
      </p:sp>
      <p:sp>
        <p:nvSpPr>
          <p:cNvPr id="11" name="Text 9"/>
          <p:cNvSpPr/>
          <p:nvPr/>
        </p:nvSpPr>
        <p:spPr>
          <a:xfrm>
            <a:off x="4526280" y="2606040"/>
            <a:ext cx="3154680" cy="914400"/>
          </a:xfrm>
          <a:prstGeom prst="rect">
            <a:avLst/>
          </a:prstGeom>
          <a:noFill/>
          <a:ln/>
        </p:spPr>
        <p:txBody>
          <a:bodyPr wrap="square" lIns="0" tIns="0" rIns="0" bIns="0" rtlCol="0" anchor="ctr"/>
          <a:lstStyle/>
          <a:p>
            <a:pPr indent="0" marL="0">
              <a:buNone/>
            </a:pPr>
            <a:r>
              <a:rPr lang="en-US" sz="1600" dirty="0">
                <a:solidFill>
                  <a:srgbClr val="5A6A7E"/>
                </a:solidFill>
                <a:latin typeface="IBM Plex Sans" pitchFamily="34" charset="0"/>
                <a:ea typeface="IBM Plex Sans" pitchFamily="34" charset="-122"/>
                <a:cs typeface="IBM Plex Sans" pitchFamily="34" charset="-120"/>
              </a:rPr>
              <a:t>Schema, load, lineage, operations, quality.</a:t>
            </a:r>
            <a:endParaRPr lang="en-US" sz="1600" dirty="0"/>
          </a:p>
        </p:txBody>
      </p:sp>
      <p:sp>
        <p:nvSpPr>
          <p:cNvPr id="12" name="Shape 10"/>
          <p:cNvSpPr/>
          <p:nvPr/>
        </p:nvSpPr>
        <p:spPr>
          <a:xfrm>
            <a:off x="8092440" y="1691640"/>
            <a:ext cx="3611880" cy="2148840"/>
          </a:xfrm>
          <a:prstGeom prst="rect">
            <a:avLst/>
          </a:prstGeom>
          <a:solidFill>
            <a:srgbClr val="FFFFFF"/>
          </a:solidFill>
          <a:ln w="12700">
            <a:solidFill>
              <a:srgbClr val="FFFFFF"/>
            </a:solidFill>
            <a:prstDash val="solid"/>
          </a:ln>
        </p:spPr>
      </p:sp>
      <p:sp>
        <p:nvSpPr>
          <p:cNvPr id="13" name="Shape 11"/>
          <p:cNvSpPr/>
          <p:nvPr/>
        </p:nvSpPr>
        <p:spPr>
          <a:xfrm>
            <a:off x="8092440" y="1691640"/>
            <a:ext cx="3611880" cy="73152"/>
          </a:xfrm>
          <a:prstGeom prst="rect">
            <a:avLst/>
          </a:prstGeom>
          <a:solidFill>
            <a:srgbClr val="0D6E8C"/>
          </a:solidFill>
          <a:ln w="12700">
            <a:solidFill>
              <a:srgbClr val="0D6E8C"/>
            </a:solidFill>
            <a:prstDash val="solid"/>
          </a:ln>
        </p:spPr>
      </p:sp>
      <p:sp>
        <p:nvSpPr>
          <p:cNvPr id="14" name="Text 12"/>
          <p:cNvSpPr/>
          <p:nvPr/>
        </p:nvSpPr>
        <p:spPr>
          <a:xfrm>
            <a:off x="8321040" y="1965960"/>
            <a:ext cx="3154680" cy="502920"/>
          </a:xfrm>
          <a:prstGeom prst="rect">
            <a:avLst/>
          </a:prstGeom>
          <a:noFill/>
          <a:ln/>
        </p:spPr>
        <p:txBody>
          <a:bodyPr wrap="square" lIns="0" tIns="0" rIns="0" bIns="0" rtlCol="0" anchor="ctr"/>
          <a:lstStyle/>
          <a:p>
            <a:pPr indent="0" marL="0">
              <a:buNone/>
            </a:pPr>
            <a:r>
              <a:rPr lang="en-US" sz="2800" b="1" dirty="0">
                <a:solidFill>
                  <a:srgbClr val="1A2332"/>
                </a:solidFill>
                <a:latin typeface="IBM Plex Sans" pitchFamily="34" charset="0"/>
                <a:ea typeface="IBM Plex Sans" pitchFamily="34" charset="-122"/>
                <a:cs typeface="IBM Plex Sans" pitchFamily="34" charset="-120"/>
              </a:rPr>
              <a:t>Edit</a:t>
            </a:r>
            <a:endParaRPr lang="en-US" sz="2800" dirty="0"/>
          </a:p>
        </p:txBody>
      </p:sp>
      <p:sp>
        <p:nvSpPr>
          <p:cNvPr id="15" name="Text 13"/>
          <p:cNvSpPr/>
          <p:nvPr/>
        </p:nvSpPr>
        <p:spPr>
          <a:xfrm>
            <a:off x="8321040" y="2606040"/>
            <a:ext cx="3154680" cy="914400"/>
          </a:xfrm>
          <a:prstGeom prst="rect">
            <a:avLst/>
          </a:prstGeom>
          <a:noFill/>
          <a:ln/>
        </p:spPr>
        <p:txBody>
          <a:bodyPr wrap="square" lIns="0" tIns="0" rIns="0" bIns="0" rtlCol="0" anchor="ctr"/>
          <a:lstStyle/>
          <a:p>
            <a:pPr indent="0" marL="0">
              <a:buNone/>
            </a:pPr>
            <a:r>
              <a:rPr lang="en-US" sz="1600" dirty="0">
                <a:solidFill>
                  <a:srgbClr val="5A6A7E"/>
                </a:solidFill>
                <a:latin typeface="IBM Plex Sans" pitchFamily="34" charset="0"/>
                <a:ea typeface="IBM Plex Sans" pitchFamily="34" charset="-122"/>
                <a:cs typeface="IBM Plex Sans" pitchFamily="34" charset="-120"/>
              </a:rPr>
              <a:t>Seeing a problem and fixing it are the same place.</a:t>
            </a:r>
            <a:endParaRPr lang="en-US" sz="1600" dirty="0"/>
          </a:p>
        </p:txBody>
      </p:sp>
      <p:sp>
        <p:nvSpPr>
          <p:cNvPr id="16" name="Text 14"/>
          <p:cNvSpPr/>
          <p:nvPr/>
        </p:nvSpPr>
        <p:spPr>
          <a:xfrm>
            <a:off x="502920" y="4206240"/>
            <a:ext cx="11155680" cy="548640"/>
          </a:xfrm>
          <a:prstGeom prst="rect">
            <a:avLst/>
          </a:prstGeom>
          <a:noFill/>
          <a:ln/>
        </p:spPr>
        <p:txBody>
          <a:bodyPr wrap="square" lIns="0" tIns="0" rIns="0" bIns="0" rtlCol="0" anchor="ctr"/>
          <a:lstStyle/>
          <a:p>
            <a:pPr indent="0" marL="0">
              <a:buNone/>
            </a:pPr>
            <a:r>
              <a:rPr lang="en-US" sz="2600" i="1" dirty="0">
                <a:solidFill>
                  <a:srgbClr val="1A2332"/>
                </a:solidFill>
                <a:latin typeface="IBM Plex Sans" pitchFamily="34" charset="0"/>
                <a:ea typeface="IBM Plex Sans" pitchFamily="34" charset="-122"/>
                <a:cs typeface="IBM Plex Sans" pitchFamily="34" charset="-120"/>
              </a:rPr>
              <a:t>If you can't see it, you can't own it.</a:t>
            </a:r>
            <a:endParaRPr lang="en-US" sz="2600" dirty="0"/>
          </a:p>
        </p:txBody>
      </p:sp>
      <p:sp>
        <p:nvSpPr>
          <p:cNvPr id="17" name="Text 15"/>
          <p:cNvSpPr/>
          <p:nvPr/>
        </p:nvSpPr>
        <p:spPr>
          <a:xfrm>
            <a:off x="502920" y="4937760"/>
            <a:ext cx="11155680" cy="365760"/>
          </a:xfrm>
          <a:prstGeom prst="rect">
            <a:avLst/>
          </a:prstGeom>
          <a:noFill/>
          <a:ln/>
        </p:spPr>
        <p:txBody>
          <a:bodyPr wrap="square" lIns="0" tIns="0" rIns="0" bIns="0" rtlCol="0" anchor="ctr"/>
          <a:lstStyle/>
          <a:p>
            <a:pPr indent="0" marL="0">
              <a:buNone/>
            </a:pPr>
            <a:r>
              <a:rPr lang="en-US" sz="1800" dirty="0">
                <a:solidFill>
                  <a:srgbClr val="5A6A7E"/>
                </a:solidFill>
                <a:latin typeface="IBM Plex Sans" pitchFamily="34" charset="0"/>
                <a:ea typeface="IBM Plex Sans" pitchFamily="34" charset="-122"/>
                <a:cs typeface="IBM Plex Sans" pitchFamily="34" charset="-120"/>
              </a:rPr>
              <a:t>Every layer.  Every object.  Every kind of metadata.</a:t>
            </a:r>
            <a:endParaRPr lang="en-US" sz="1800" dirty="0"/>
          </a:p>
        </p:txBody>
      </p:sp>
      <p:sp>
        <p:nvSpPr>
          <p:cNvPr id="18" name="Text 16"/>
          <p:cNvSpPr/>
          <p:nvPr/>
        </p:nvSpPr>
        <p:spPr>
          <a:xfrm>
            <a:off x="502920" y="6473952"/>
            <a:ext cx="6400800" cy="237744"/>
          </a:xfrm>
          <a:prstGeom prst="rect">
            <a:avLst/>
          </a:prstGeom>
          <a:noFill/>
          <a:ln/>
        </p:spPr>
        <p:txBody>
          <a:bodyPr wrap="square" lIns="0" tIns="0" rIns="0" bIns="0" rtlCol="0" anchor="ctr"/>
          <a:lstStyle/>
          <a:p>
            <a:pPr indent="0" marL="0">
              <a:buNone/>
            </a:pPr>
            <a:r>
              <a:rPr lang="en-US" sz="1200" dirty="0">
                <a:solidFill>
                  <a:srgbClr val="5A6A7E"/>
                </a:solidFill>
                <a:latin typeface="IBM Plex Sans" pitchFamily="34" charset="0"/>
                <a:ea typeface="IBM Plex Sans" pitchFamily="34" charset="-122"/>
                <a:cs typeface="IBM Plex Sans" pitchFamily="34" charset="-120"/>
              </a:rPr>
              <a:t>Full-stack transparency</a:t>
            </a:r>
            <a:endParaRPr lang="en-US" sz="1200" dirty="0"/>
          </a:p>
        </p:txBody>
      </p:sp>
      <p:sp>
        <p:nvSpPr>
          <p:cNvPr id="19" name="Text 17"/>
          <p:cNvSpPr/>
          <p:nvPr/>
        </p:nvSpPr>
        <p:spPr>
          <a:xfrm>
            <a:off x="10515600" y="6473952"/>
            <a:ext cx="1170432" cy="237744"/>
          </a:xfrm>
          <a:prstGeom prst="rect">
            <a:avLst/>
          </a:prstGeom>
          <a:noFill/>
          <a:ln/>
        </p:spPr>
        <p:txBody>
          <a:bodyPr wrap="square" lIns="0" tIns="0" rIns="0" bIns="0" rtlCol="0" anchor="ctr"/>
          <a:lstStyle/>
          <a:p>
            <a:pPr algn="r" indent="0" marL="0">
              <a:buNone/>
            </a:pPr>
            <a:r>
              <a:rPr lang="en-US" sz="1200" dirty="0">
                <a:solidFill>
                  <a:srgbClr val="5A6A7E"/>
                </a:solidFill>
                <a:latin typeface="IBM Plex Mono" pitchFamily="34" charset="0"/>
                <a:ea typeface="IBM Plex Mono" pitchFamily="34" charset="-122"/>
                <a:cs typeface="IBM Plex Mono"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11155680" cy="256032"/>
          </a:xfrm>
          <a:prstGeom prst="rect">
            <a:avLst/>
          </a:prstGeom>
          <a:noFill/>
          <a:ln/>
        </p:spPr>
        <p:txBody>
          <a:bodyPr wrap="square" lIns="0" tIns="0" rIns="0" bIns="0" rtlCol="0" anchor="ctr"/>
          <a:lstStyle/>
          <a:p>
            <a:pPr indent="0" marL="0">
              <a:buNone/>
            </a:pPr>
            <a:r>
              <a:rPr lang="en-US" sz="1200" spc="120" kern="0" dirty="0">
                <a:solidFill>
                  <a:srgbClr val="0D6E8C"/>
                </a:solidFill>
                <a:latin typeface="IBM Plex Mono" pitchFamily="34" charset="0"/>
                <a:ea typeface="IBM Plex Mono" pitchFamily="34" charset="-122"/>
                <a:cs typeface="IBM Plex Mono" pitchFamily="34" charset="-120"/>
              </a:rPr>
              <a:t>THE TRADE-OFF</a:t>
            </a:r>
            <a:endParaRPr lang="en-US" sz="1200" dirty="0"/>
          </a:p>
        </p:txBody>
      </p:sp>
      <p:sp>
        <p:nvSpPr>
          <p:cNvPr id="3" name="Text 1"/>
          <p:cNvSpPr/>
          <p:nvPr/>
        </p:nvSpPr>
        <p:spPr>
          <a:xfrm>
            <a:off x="502920" y="658368"/>
            <a:ext cx="11155680" cy="640080"/>
          </a:xfrm>
          <a:prstGeom prst="rect">
            <a:avLst/>
          </a:prstGeom>
          <a:noFill/>
          <a:ln/>
        </p:spPr>
        <p:txBody>
          <a:bodyPr wrap="square" lIns="0" tIns="0" rIns="0" bIns="0" rtlCol="0" anchor="ctr"/>
          <a:lstStyle/>
          <a:p>
            <a:pPr indent="0" marL="0">
              <a:buNone/>
            </a:pPr>
            <a:r>
              <a:rPr lang="en-US" sz="3200" b="1" dirty="0">
                <a:solidFill>
                  <a:srgbClr val="1A2332"/>
                </a:solidFill>
                <a:latin typeface="IBM Plex Sans" pitchFamily="34" charset="0"/>
                <a:ea typeface="IBM Plex Sans" pitchFamily="34" charset="-122"/>
                <a:cs typeface="IBM Plex Sans" pitchFamily="34" charset="-120"/>
              </a:rPr>
              <a:t>Best tool for each job</a:t>
            </a:r>
            <a:endParaRPr lang="en-US" sz="3200" dirty="0"/>
          </a:p>
        </p:txBody>
      </p:sp>
      <p:sp>
        <p:nvSpPr>
          <p:cNvPr id="4" name="Shape 2"/>
          <p:cNvSpPr/>
          <p:nvPr/>
        </p:nvSpPr>
        <p:spPr>
          <a:xfrm>
            <a:off x="502920" y="1554480"/>
            <a:ext cx="5486400" cy="3246120"/>
          </a:xfrm>
          <a:prstGeom prst="rect">
            <a:avLst/>
          </a:prstGeom>
          <a:solidFill>
            <a:srgbClr val="FFFFFF"/>
          </a:solidFill>
          <a:ln w="12700">
            <a:solidFill>
              <a:srgbClr val="FFFFFF"/>
            </a:solidFill>
            <a:prstDash val="solid"/>
          </a:ln>
        </p:spPr>
      </p:sp>
      <p:sp>
        <p:nvSpPr>
          <p:cNvPr id="5" name="Shape 3"/>
          <p:cNvSpPr/>
          <p:nvPr/>
        </p:nvSpPr>
        <p:spPr>
          <a:xfrm>
            <a:off x="502920" y="1554480"/>
            <a:ext cx="5486400" cy="73152"/>
          </a:xfrm>
          <a:prstGeom prst="rect">
            <a:avLst/>
          </a:prstGeom>
          <a:solidFill>
            <a:srgbClr val="1E7A46"/>
          </a:solidFill>
          <a:ln w="12700">
            <a:solidFill>
              <a:srgbClr val="1E7A46"/>
            </a:solidFill>
            <a:prstDash val="solid"/>
          </a:ln>
        </p:spPr>
      </p:sp>
      <p:sp>
        <p:nvSpPr>
          <p:cNvPr id="6" name="Shape 4"/>
          <p:cNvSpPr/>
          <p:nvPr/>
        </p:nvSpPr>
        <p:spPr>
          <a:xfrm>
            <a:off x="6217920" y="1554480"/>
            <a:ext cx="5486400" cy="3246120"/>
          </a:xfrm>
          <a:prstGeom prst="rect">
            <a:avLst/>
          </a:prstGeom>
          <a:solidFill>
            <a:srgbClr val="FFFFFF"/>
          </a:solidFill>
          <a:ln w="12700">
            <a:solidFill>
              <a:srgbClr val="FFFFFF"/>
            </a:solidFill>
            <a:prstDash val="solid"/>
          </a:ln>
        </p:spPr>
      </p:sp>
      <p:sp>
        <p:nvSpPr>
          <p:cNvPr id="7" name="Shape 5"/>
          <p:cNvSpPr/>
          <p:nvPr/>
        </p:nvSpPr>
        <p:spPr>
          <a:xfrm>
            <a:off x="6217920" y="1554480"/>
            <a:ext cx="5486400" cy="73152"/>
          </a:xfrm>
          <a:prstGeom prst="rect">
            <a:avLst/>
          </a:prstGeom>
          <a:solidFill>
            <a:srgbClr val="C47A12"/>
          </a:solidFill>
          <a:ln w="12700">
            <a:solidFill>
              <a:srgbClr val="C47A12"/>
            </a:solidFill>
            <a:prstDash val="solid"/>
          </a:ln>
        </p:spPr>
      </p:sp>
      <p:sp>
        <p:nvSpPr>
          <p:cNvPr id="8" name="Text 6"/>
          <p:cNvSpPr/>
          <p:nvPr/>
        </p:nvSpPr>
        <p:spPr>
          <a:xfrm>
            <a:off x="731520" y="1783080"/>
            <a:ext cx="5029200" cy="274320"/>
          </a:xfrm>
          <a:prstGeom prst="rect">
            <a:avLst/>
          </a:prstGeom>
          <a:noFill/>
          <a:ln/>
        </p:spPr>
        <p:txBody>
          <a:bodyPr wrap="square" lIns="0" tIns="0" rIns="0" bIns="0" rtlCol="0" anchor="ctr"/>
          <a:lstStyle/>
          <a:p>
            <a:pPr indent="0" marL="0">
              <a:buNone/>
            </a:pPr>
            <a:r>
              <a:rPr lang="en-US" sz="1300" spc="80" kern="0" dirty="0">
                <a:solidFill>
                  <a:srgbClr val="1E7A46"/>
                </a:solidFill>
                <a:latin typeface="IBM Plex Mono" pitchFamily="34" charset="0"/>
                <a:ea typeface="IBM Plex Mono" pitchFamily="34" charset="-122"/>
                <a:cs typeface="IBM Plex Mono" pitchFamily="34" charset="-120"/>
              </a:rPr>
              <a:t>WHAT IT OPTIMIZES</a:t>
            </a:r>
            <a:endParaRPr lang="en-US" sz="1300" dirty="0"/>
          </a:p>
        </p:txBody>
      </p:sp>
      <p:sp>
        <p:nvSpPr>
          <p:cNvPr id="9" name="Text 7"/>
          <p:cNvSpPr/>
          <p:nvPr/>
        </p:nvSpPr>
        <p:spPr>
          <a:xfrm>
            <a:off x="6446520" y="1783080"/>
            <a:ext cx="5029200" cy="274320"/>
          </a:xfrm>
          <a:prstGeom prst="rect">
            <a:avLst/>
          </a:prstGeom>
          <a:noFill/>
          <a:ln/>
        </p:spPr>
        <p:txBody>
          <a:bodyPr wrap="square" lIns="0" tIns="0" rIns="0" bIns="0" rtlCol="0" anchor="ctr"/>
          <a:lstStyle/>
          <a:p>
            <a:pPr indent="0" marL="0">
              <a:buNone/>
            </a:pPr>
            <a:r>
              <a:rPr lang="en-US" sz="1300" spc="80" kern="0" dirty="0">
                <a:solidFill>
                  <a:srgbClr val="C47A12"/>
                </a:solidFill>
                <a:latin typeface="IBM Plex Mono" pitchFamily="34" charset="0"/>
                <a:ea typeface="IBM Plex Mono" pitchFamily="34" charset="-122"/>
                <a:cs typeface="IBM Plex Mono" pitchFamily="34" charset="-120"/>
              </a:rPr>
              <a:t>WHAT IT COSTS</a:t>
            </a:r>
            <a:endParaRPr lang="en-US" sz="1300" dirty="0"/>
          </a:p>
        </p:txBody>
      </p:sp>
      <p:sp>
        <p:nvSpPr>
          <p:cNvPr id="10" name="Text 8"/>
          <p:cNvSpPr/>
          <p:nvPr/>
        </p:nvSpPr>
        <p:spPr>
          <a:xfrm>
            <a:off x="731520" y="2240280"/>
            <a:ext cx="5029200" cy="292608"/>
          </a:xfrm>
          <a:prstGeom prst="rect">
            <a:avLst/>
          </a:prstGeom>
          <a:noFill/>
          <a:ln/>
        </p:spPr>
        <p:txBody>
          <a:bodyPr wrap="square" lIns="0" tIns="0" rIns="0" bIns="0" rtlCol="0" anchor="ctr"/>
          <a:lstStyle/>
          <a:p>
            <a:pPr indent="0" marL="0">
              <a:buNone/>
            </a:pPr>
            <a:r>
              <a:rPr lang="en-US" sz="1800" b="1" dirty="0">
                <a:solidFill>
                  <a:srgbClr val="1A2332"/>
                </a:solidFill>
                <a:latin typeface="IBM Plex Sans" pitchFamily="34" charset="0"/>
                <a:ea typeface="IBM Plex Sans" pitchFamily="34" charset="-122"/>
                <a:cs typeface="IBM Plex Sans" pitchFamily="34" charset="-120"/>
              </a:rPr>
              <a:t>Depth</a:t>
            </a:r>
            <a:endParaRPr lang="en-US" sz="1800" dirty="0"/>
          </a:p>
        </p:txBody>
      </p:sp>
      <p:sp>
        <p:nvSpPr>
          <p:cNvPr id="11" name="Text 9"/>
          <p:cNvSpPr/>
          <p:nvPr/>
        </p:nvSpPr>
        <p:spPr>
          <a:xfrm>
            <a:off x="731520" y="2532888"/>
            <a:ext cx="5029200" cy="274320"/>
          </a:xfrm>
          <a:prstGeom prst="rect">
            <a:avLst/>
          </a:prstGeom>
          <a:noFill/>
          <a:ln/>
        </p:spPr>
        <p:txBody>
          <a:bodyPr wrap="square" lIns="0" tIns="0" rIns="0" bIns="0" rtlCol="0" anchor="ctr"/>
          <a:lstStyle/>
          <a:p>
            <a:pPr indent="0" marL="0">
              <a:buNone/>
            </a:pPr>
            <a:r>
              <a:rPr lang="en-US" sz="1400" dirty="0">
                <a:solidFill>
                  <a:srgbClr val="5A6A7E"/>
                </a:solidFill>
                <a:latin typeface="IBM Plex Sans" pitchFamily="34" charset="0"/>
                <a:ea typeface="IBM Plex Sans" pitchFamily="34" charset="-122"/>
                <a:cs typeface="IBM Plex Sans" pitchFamily="34" charset="-120"/>
              </a:rPr>
              <a:t>One specialty, done thoroughly.</a:t>
            </a:r>
            <a:endParaRPr lang="en-US" sz="1400" dirty="0"/>
          </a:p>
        </p:txBody>
      </p:sp>
      <p:sp>
        <p:nvSpPr>
          <p:cNvPr id="12" name="Text 10"/>
          <p:cNvSpPr/>
          <p:nvPr/>
        </p:nvSpPr>
        <p:spPr>
          <a:xfrm>
            <a:off x="731520" y="3017520"/>
            <a:ext cx="5029200" cy="292608"/>
          </a:xfrm>
          <a:prstGeom prst="rect">
            <a:avLst/>
          </a:prstGeom>
          <a:noFill/>
          <a:ln/>
        </p:spPr>
        <p:txBody>
          <a:bodyPr wrap="square" lIns="0" tIns="0" rIns="0" bIns="0" rtlCol="0" anchor="ctr"/>
          <a:lstStyle/>
          <a:p>
            <a:pPr indent="0" marL="0">
              <a:buNone/>
            </a:pPr>
            <a:r>
              <a:rPr lang="en-US" sz="1800" b="1" dirty="0">
                <a:solidFill>
                  <a:srgbClr val="1A2332"/>
                </a:solidFill>
                <a:latin typeface="IBM Plex Sans" pitchFamily="34" charset="0"/>
                <a:ea typeface="IBM Plex Sans" pitchFamily="34" charset="-122"/>
                <a:cs typeface="IBM Plex Sans" pitchFamily="34" charset="-120"/>
              </a:rPr>
              <a:t>Specialists</a:t>
            </a:r>
            <a:endParaRPr lang="en-US" sz="1800" dirty="0"/>
          </a:p>
        </p:txBody>
      </p:sp>
      <p:sp>
        <p:nvSpPr>
          <p:cNvPr id="13" name="Text 11"/>
          <p:cNvSpPr/>
          <p:nvPr/>
        </p:nvSpPr>
        <p:spPr>
          <a:xfrm>
            <a:off x="731520" y="3310128"/>
            <a:ext cx="5029200" cy="274320"/>
          </a:xfrm>
          <a:prstGeom prst="rect">
            <a:avLst/>
          </a:prstGeom>
          <a:noFill/>
          <a:ln/>
        </p:spPr>
        <p:txBody>
          <a:bodyPr wrap="square" lIns="0" tIns="0" rIns="0" bIns="0" rtlCol="0" anchor="ctr"/>
          <a:lstStyle/>
          <a:p>
            <a:pPr indent="0" marL="0">
              <a:buNone/>
            </a:pPr>
            <a:r>
              <a:rPr lang="en-US" sz="1400" dirty="0">
                <a:solidFill>
                  <a:srgbClr val="5A6A7E"/>
                </a:solidFill>
                <a:latin typeface="IBM Plex Sans" pitchFamily="34" charset="0"/>
                <a:ea typeface="IBM Plex Sans" pitchFamily="34" charset="-122"/>
                <a:cs typeface="IBM Plex Sans" pitchFamily="34" charset="-120"/>
              </a:rPr>
              <a:t>People who live in one tool.</a:t>
            </a:r>
            <a:endParaRPr lang="en-US" sz="1400" dirty="0"/>
          </a:p>
        </p:txBody>
      </p:sp>
      <p:sp>
        <p:nvSpPr>
          <p:cNvPr id="14" name="Text 12"/>
          <p:cNvSpPr/>
          <p:nvPr/>
        </p:nvSpPr>
        <p:spPr>
          <a:xfrm>
            <a:off x="731520" y="3794760"/>
            <a:ext cx="5029200" cy="292608"/>
          </a:xfrm>
          <a:prstGeom prst="rect">
            <a:avLst/>
          </a:prstGeom>
          <a:noFill/>
          <a:ln/>
        </p:spPr>
        <p:txBody>
          <a:bodyPr wrap="square" lIns="0" tIns="0" rIns="0" bIns="0" rtlCol="0" anchor="ctr"/>
          <a:lstStyle/>
          <a:p>
            <a:pPr indent="0" marL="0">
              <a:buNone/>
            </a:pPr>
            <a:r>
              <a:rPr lang="en-US" sz="1800" b="1" dirty="0">
                <a:solidFill>
                  <a:srgbClr val="1A2332"/>
                </a:solidFill>
                <a:latin typeface="IBM Plex Sans" pitchFamily="34" charset="0"/>
                <a:ea typeface="IBM Plex Sans" pitchFamily="34" charset="-122"/>
                <a:cs typeface="IBM Plex Sans" pitchFamily="34" charset="-120"/>
              </a:rPr>
              <a:t>Purchasing</a:t>
            </a:r>
            <a:endParaRPr lang="en-US" sz="1800" dirty="0"/>
          </a:p>
        </p:txBody>
      </p:sp>
      <p:sp>
        <p:nvSpPr>
          <p:cNvPr id="15" name="Text 13"/>
          <p:cNvSpPr/>
          <p:nvPr/>
        </p:nvSpPr>
        <p:spPr>
          <a:xfrm>
            <a:off x="731520" y="4087368"/>
            <a:ext cx="5029200" cy="274320"/>
          </a:xfrm>
          <a:prstGeom prst="rect">
            <a:avLst/>
          </a:prstGeom>
          <a:noFill/>
          <a:ln/>
        </p:spPr>
        <p:txBody>
          <a:bodyPr wrap="square" lIns="0" tIns="0" rIns="0" bIns="0" rtlCol="0" anchor="ctr"/>
          <a:lstStyle/>
          <a:p>
            <a:pPr indent="0" marL="0">
              <a:buNone/>
            </a:pPr>
            <a:r>
              <a:rPr lang="en-US" sz="1400" dirty="0">
                <a:solidFill>
                  <a:srgbClr val="5A6A7E"/>
                </a:solidFill>
                <a:latin typeface="IBM Plex Sans" pitchFamily="34" charset="0"/>
                <a:ea typeface="IBM Plex Sans" pitchFamily="34" charset="-122"/>
                <a:cs typeface="IBM Plex Sans" pitchFamily="34" charset="-120"/>
              </a:rPr>
              <a:t>One category at a time.</a:t>
            </a:r>
            <a:endParaRPr lang="en-US" sz="1400" dirty="0"/>
          </a:p>
        </p:txBody>
      </p:sp>
      <p:sp>
        <p:nvSpPr>
          <p:cNvPr id="16" name="Text 14"/>
          <p:cNvSpPr/>
          <p:nvPr/>
        </p:nvSpPr>
        <p:spPr>
          <a:xfrm>
            <a:off x="6446520" y="2240280"/>
            <a:ext cx="5029200" cy="292608"/>
          </a:xfrm>
          <a:prstGeom prst="rect">
            <a:avLst/>
          </a:prstGeom>
          <a:noFill/>
          <a:ln/>
        </p:spPr>
        <p:txBody>
          <a:bodyPr wrap="square" lIns="0" tIns="0" rIns="0" bIns="0" rtlCol="0" anchor="ctr"/>
          <a:lstStyle/>
          <a:p>
            <a:pPr indent="0" marL="0">
              <a:buNone/>
            </a:pPr>
            <a:r>
              <a:rPr lang="en-US" sz="1800" b="1" dirty="0">
                <a:solidFill>
                  <a:srgbClr val="1A2332"/>
                </a:solidFill>
                <a:latin typeface="IBM Plex Sans" pitchFamily="34" charset="0"/>
                <a:ea typeface="IBM Plex Sans" pitchFamily="34" charset="-122"/>
                <a:cs typeface="IBM Plex Sans" pitchFamily="34" charset="-120"/>
              </a:rPr>
              <a:t>Split context</a:t>
            </a:r>
            <a:endParaRPr lang="en-US" sz="1800" dirty="0"/>
          </a:p>
        </p:txBody>
      </p:sp>
      <p:sp>
        <p:nvSpPr>
          <p:cNvPr id="17" name="Text 15"/>
          <p:cNvSpPr/>
          <p:nvPr/>
        </p:nvSpPr>
        <p:spPr>
          <a:xfrm>
            <a:off x="6446520" y="2532888"/>
            <a:ext cx="5029200" cy="274320"/>
          </a:xfrm>
          <a:prstGeom prst="rect">
            <a:avLst/>
          </a:prstGeom>
          <a:noFill/>
          <a:ln/>
        </p:spPr>
        <p:txBody>
          <a:bodyPr wrap="square" lIns="0" tIns="0" rIns="0" bIns="0" rtlCol="0" anchor="ctr"/>
          <a:lstStyle/>
          <a:p>
            <a:pPr indent="0" marL="0">
              <a:buNone/>
            </a:pPr>
            <a:r>
              <a:rPr lang="en-US" sz="1400" dirty="0">
                <a:solidFill>
                  <a:srgbClr val="5A6A7E"/>
                </a:solidFill>
                <a:latin typeface="IBM Plex Sans" pitchFamily="34" charset="0"/>
                <a:ea typeface="IBM Plex Sans" pitchFamily="34" charset="-122"/>
                <a:cs typeface="IBM Plex Sans" pitchFamily="34" charset="-120"/>
              </a:rPr>
              <a:t>One object, several versions of the truth.</a:t>
            </a:r>
            <a:endParaRPr lang="en-US" sz="1400" dirty="0"/>
          </a:p>
        </p:txBody>
      </p:sp>
      <p:sp>
        <p:nvSpPr>
          <p:cNvPr id="18" name="Text 16"/>
          <p:cNvSpPr/>
          <p:nvPr/>
        </p:nvSpPr>
        <p:spPr>
          <a:xfrm>
            <a:off x="6446520" y="3017520"/>
            <a:ext cx="5029200" cy="292608"/>
          </a:xfrm>
          <a:prstGeom prst="rect">
            <a:avLst/>
          </a:prstGeom>
          <a:noFill/>
          <a:ln/>
        </p:spPr>
        <p:txBody>
          <a:bodyPr wrap="square" lIns="0" tIns="0" rIns="0" bIns="0" rtlCol="0" anchor="ctr"/>
          <a:lstStyle/>
          <a:p>
            <a:pPr indent="0" marL="0">
              <a:buNone/>
            </a:pPr>
            <a:r>
              <a:rPr lang="en-US" sz="1800" b="1" dirty="0">
                <a:solidFill>
                  <a:srgbClr val="1A2332"/>
                </a:solidFill>
                <a:latin typeface="IBM Plex Sans" pitchFamily="34" charset="0"/>
                <a:ea typeface="IBM Plex Sans" pitchFamily="34" charset="-122"/>
                <a:cs typeface="IBM Plex Sans" pitchFamily="34" charset="-120"/>
              </a:rPr>
              <a:t>Read-only islands</a:t>
            </a:r>
            <a:endParaRPr lang="en-US" sz="1800" dirty="0"/>
          </a:p>
        </p:txBody>
      </p:sp>
      <p:sp>
        <p:nvSpPr>
          <p:cNvPr id="19" name="Text 17"/>
          <p:cNvSpPr/>
          <p:nvPr/>
        </p:nvSpPr>
        <p:spPr>
          <a:xfrm>
            <a:off x="6446520" y="3310128"/>
            <a:ext cx="5029200" cy="274320"/>
          </a:xfrm>
          <a:prstGeom prst="rect">
            <a:avLst/>
          </a:prstGeom>
          <a:noFill/>
          <a:ln/>
        </p:spPr>
        <p:txBody>
          <a:bodyPr wrap="square" lIns="0" tIns="0" rIns="0" bIns="0" rtlCol="0" anchor="ctr"/>
          <a:lstStyle/>
          <a:p>
            <a:pPr indent="0" marL="0">
              <a:buNone/>
            </a:pPr>
            <a:r>
              <a:rPr lang="en-US" sz="1400" dirty="0">
                <a:solidFill>
                  <a:srgbClr val="5A6A7E"/>
                </a:solidFill>
                <a:latin typeface="IBM Plex Sans" pitchFamily="34" charset="0"/>
                <a:ea typeface="IBM Plex Sans" pitchFamily="34" charset="-122"/>
                <a:cs typeface="IBM Plex Sans" pitchFamily="34" charset="-120"/>
              </a:rPr>
              <a:t>You can see it, and you cannot fix it.</a:t>
            </a:r>
            <a:endParaRPr lang="en-US" sz="1400" dirty="0"/>
          </a:p>
        </p:txBody>
      </p:sp>
      <p:sp>
        <p:nvSpPr>
          <p:cNvPr id="20" name="Text 18"/>
          <p:cNvSpPr/>
          <p:nvPr/>
        </p:nvSpPr>
        <p:spPr>
          <a:xfrm>
            <a:off x="6446520" y="3794760"/>
            <a:ext cx="5029200" cy="292608"/>
          </a:xfrm>
          <a:prstGeom prst="rect">
            <a:avLst/>
          </a:prstGeom>
          <a:noFill/>
          <a:ln/>
        </p:spPr>
        <p:txBody>
          <a:bodyPr wrap="square" lIns="0" tIns="0" rIns="0" bIns="0" rtlCol="0" anchor="ctr"/>
          <a:lstStyle/>
          <a:p>
            <a:pPr indent="0" marL="0">
              <a:buNone/>
            </a:pPr>
            <a:r>
              <a:rPr lang="en-US" sz="1800" b="1" dirty="0">
                <a:solidFill>
                  <a:srgbClr val="1A2332"/>
                </a:solidFill>
                <a:latin typeface="IBM Plex Sans" pitchFamily="34" charset="0"/>
                <a:ea typeface="IBM Plex Sans" pitchFamily="34" charset="-122"/>
                <a:cs typeface="IBM Plex Sans" pitchFamily="34" charset="-120"/>
              </a:rPr>
              <a:t>Integration</a:t>
            </a:r>
            <a:endParaRPr lang="en-US" sz="1800" dirty="0"/>
          </a:p>
        </p:txBody>
      </p:sp>
      <p:sp>
        <p:nvSpPr>
          <p:cNvPr id="21" name="Text 19"/>
          <p:cNvSpPr/>
          <p:nvPr/>
        </p:nvSpPr>
        <p:spPr>
          <a:xfrm>
            <a:off x="6446520" y="4087368"/>
            <a:ext cx="5029200" cy="274320"/>
          </a:xfrm>
          <a:prstGeom prst="rect">
            <a:avLst/>
          </a:prstGeom>
          <a:noFill/>
          <a:ln/>
        </p:spPr>
        <p:txBody>
          <a:bodyPr wrap="square" lIns="0" tIns="0" rIns="0" bIns="0" rtlCol="0" anchor="ctr"/>
          <a:lstStyle/>
          <a:p>
            <a:pPr indent="0" marL="0">
              <a:buNone/>
            </a:pPr>
            <a:r>
              <a:rPr lang="en-US" sz="1400" dirty="0">
                <a:solidFill>
                  <a:srgbClr val="5A6A7E"/>
                </a:solidFill>
                <a:latin typeface="IBM Plex Sans" pitchFamily="34" charset="0"/>
                <a:ea typeface="IBM Plex Sans" pitchFamily="34" charset="-122"/>
                <a:cs typeface="IBM Plex Sans" pitchFamily="34" charset="-120"/>
              </a:rPr>
              <a:t>The wiring becomes the project.</a:t>
            </a:r>
            <a:endParaRPr lang="en-US" sz="1400" dirty="0"/>
          </a:p>
        </p:txBody>
      </p:sp>
      <p:sp>
        <p:nvSpPr>
          <p:cNvPr id="22" name="Text 20"/>
          <p:cNvSpPr/>
          <p:nvPr/>
        </p:nvSpPr>
        <p:spPr>
          <a:xfrm>
            <a:off x="502920" y="5029200"/>
            <a:ext cx="11155680" cy="777240"/>
          </a:xfrm>
          <a:prstGeom prst="rect">
            <a:avLst/>
          </a:prstGeom>
          <a:noFill/>
          <a:ln/>
        </p:spPr>
        <p:txBody>
          <a:bodyPr wrap="square" lIns="0" tIns="0" rIns="0" bIns="0" rtlCol="0" anchor="ctr"/>
          <a:lstStyle/>
          <a:p>
            <a:pPr indent="0" marL="0">
              <a:buNone/>
            </a:pPr>
            <a:r>
              <a:rPr lang="en-US" sz="2000" i="1" dirty="0">
                <a:solidFill>
                  <a:srgbClr val="1A2332"/>
                </a:solidFill>
                <a:latin typeface="IBM Plex Sans" pitchFamily="34" charset="0"/>
                <a:ea typeface="IBM Plex Sans" pitchFamily="34" charset="-122"/>
                <a:cs typeface="IBM Plex Sans" pitchFamily="34" charset="-120"/>
              </a:rPr>
              <a:t>Best tool for each job gives you the best parts. The engineer still needs the whole picture.</a:t>
            </a:r>
            <a:endParaRPr lang="en-US" sz="2000" dirty="0"/>
          </a:p>
        </p:txBody>
      </p:sp>
      <p:sp>
        <p:nvSpPr>
          <p:cNvPr id="23" name="Text 21"/>
          <p:cNvSpPr/>
          <p:nvPr/>
        </p:nvSpPr>
        <p:spPr>
          <a:xfrm>
            <a:off x="502920" y="6473952"/>
            <a:ext cx="6400800" cy="237744"/>
          </a:xfrm>
          <a:prstGeom prst="rect">
            <a:avLst/>
          </a:prstGeom>
          <a:noFill/>
          <a:ln/>
        </p:spPr>
        <p:txBody>
          <a:bodyPr wrap="square" lIns="0" tIns="0" rIns="0" bIns="0" rtlCol="0" anchor="ctr"/>
          <a:lstStyle/>
          <a:p>
            <a:pPr indent="0" marL="0">
              <a:buNone/>
            </a:pPr>
            <a:r>
              <a:rPr lang="en-US" sz="1200" dirty="0">
                <a:solidFill>
                  <a:srgbClr val="5A6A7E"/>
                </a:solidFill>
                <a:latin typeface="IBM Plex Sans" pitchFamily="34" charset="0"/>
                <a:ea typeface="IBM Plex Sans" pitchFamily="34" charset="-122"/>
                <a:cs typeface="IBM Plex Sans" pitchFamily="34" charset="-120"/>
              </a:rPr>
              <a:t>Full-stack transparency</a:t>
            </a:r>
            <a:endParaRPr lang="en-US" sz="1200" dirty="0"/>
          </a:p>
        </p:txBody>
      </p:sp>
      <p:sp>
        <p:nvSpPr>
          <p:cNvPr id="24" name="Text 22"/>
          <p:cNvSpPr/>
          <p:nvPr/>
        </p:nvSpPr>
        <p:spPr>
          <a:xfrm>
            <a:off x="10515600" y="6473952"/>
            <a:ext cx="1170432" cy="237744"/>
          </a:xfrm>
          <a:prstGeom prst="rect">
            <a:avLst/>
          </a:prstGeom>
          <a:noFill/>
          <a:ln/>
        </p:spPr>
        <p:txBody>
          <a:bodyPr wrap="square" lIns="0" tIns="0" rIns="0" bIns="0" rtlCol="0" anchor="ctr"/>
          <a:lstStyle/>
          <a:p>
            <a:pPr algn="r" indent="0" marL="0">
              <a:buNone/>
            </a:pPr>
            <a:r>
              <a:rPr lang="en-US" sz="1200" dirty="0">
                <a:solidFill>
                  <a:srgbClr val="5A6A7E"/>
                </a:solidFill>
                <a:latin typeface="IBM Plex Mono" pitchFamily="34" charset="0"/>
                <a:ea typeface="IBM Plex Mono" pitchFamily="34" charset="-122"/>
                <a:cs typeface="IBM Plex Mono"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11155680" cy="256032"/>
          </a:xfrm>
          <a:prstGeom prst="rect">
            <a:avLst/>
          </a:prstGeom>
          <a:noFill/>
          <a:ln/>
        </p:spPr>
        <p:txBody>
          <a:bodyPr wrap="square" lIns="0" tIns="0" rIns="0" bIns="0" rtlCol="0" anchor="ctr"/>
          <a:lstStyle/>
          <a:p>
            <a:pPr indent="0" marL="0">
              <a:buNone/>
            </a:pPr>
            <a:r>
              <a:rPr lang="en-US" sz="1200" spc="120" kern="0" dirty="0">
                <a:solidFill>
                  <a:srgbClr val="0D6E8C"/>
                </a:solidFill>
                <a:latin typeface="IBM Plex Mono" pitchFamily="34" charset="0"/>
                <a:ea typeface="IBM Plex Mono" pitchFamily="34" charset="-122"/>
                <a:cs typeface="IBM Plex Mono" pitchFamily="34" charset="-120"/>
              </a:rPr>
              <a:t>THE POSITION</a:t>
            </a:r>
            <a:endParaRPr lang="en-US" sz="1200" dirty="0"/>
          </a:p>
        </p:txBody>
      </p:sp>
      <p:sp>
        <p:nvSpPr>
          <p:cNvPr id="3" name="Text 1"/>
          <p:cNvSpPr/>
          <p:nvPr/>
        </p:nvSpPr>
        <p:spPr>
          <a:xfrm>
            <a:off x="502920" y="658368"/>
            <a:ext cx="11155680" cy="640080"/>
          </a:xfrm>
          <a:prstGeom prst="rect">
            <a:avLst/>
          </a:prstGeom>
          <a:noFill/>
          <a:ln/>
        </p:spPr>
        <p:txBody>
          <a:bodyPr wrap="square" lIns="0" tIns="0" rIns="0" bIns="0" rtlCol="0" anchor="ctr"/>
          <a:lstStyle/>
          <a:p>
            <a:pPr indent="0" marL="0">
              <a:buNone/>
            </a:pPr>
            <a:r>
              <a:rPr lang="en-US" sz="3200" b="1" dirty="0">
                <a:solidFill>
                  <a:srgbClr val="1A2332"/>
                </a:solidFill>
                <a:latin typeface="IBM Plex Sans" pitchFamily="34" charset="0"/>
                <a:ea typeface="IBM Plex Sans" pitchFamily="34" charset="-122"/>
                <a:cs typeface="IBM Plex Sans" pitchFamily="34" charset="-120"/>
              </a:rPr>
              <a:t>One place, open metadata</a:t>
            </a:r>
            <a:endParaRPr lang="en-US" sz="3200" dirty="0"/>
          </a:p>
        </p:txBody>
      </p:sp>
      <p:sp>
        <p:nvSpPr>
          <p:cNvPr id="4" name="Text 2"/>
          <p:cNvSpPr/>
          <p:nvPr/>
        </p:nvSpPr>
        <p:spPr>
          <a:xfrm>
            <a:off x="502920" y="1600200"/>
            <a:ext cx="1097280" cy="640080"/>
          </a:xfrm>
          <a:prstGeom prst="rect">
            <a:avLst/>
          </a:prstGeom>
          <a:noFill/>
          <a:ln/>
        </p:spPr>
        <p:txBody>
          <a:bodyPr wrap="square" lIns="0" tIns="0" rIns="0" bIns="0" rtlCol="0" anchor="ctr"/>
          <a:lstStyle/>
          <a:p>
            <a:pPr indent="0" marL="0">
              <a:buNone/>
            </a:pPr>
            <a:r>
              <a:rPr lang="en-US" sz="2200" dirty="0">
                <a:solidFill>
                  <a:srgbClr val="0D6E8C"/>
                </a:solidFill>
                <a:latin typeface="IBM Plex Mono" pitchFamily="34" charset="0"/>
                <a:ea typeface="IBM Plex Mono" pitchFamily="34" charset="-122"/>
                <a:cs typeface="IBM Plex Mono" pitchFamily="34" charset="-120"/>
              </a:rPr>
              <a:t>01</a:t>
            </a:r>
            <a:endParaRPr lang="en-US" sz="2200" dirty="0"/>
          </a:p>
        </p:txBody>
      </p:sp>
      <p:sp>
        <p:nvSpPr>
          <p:cNvPr id="5" name="Text 3"/>
          <p:cNvSpPr/>
          <p:nvPr/>
        </p:nvSpPr>
        <p:spPr>
          <a:xfrm>
            <a:off x="1828800" y="1600200"/>
            <a:ext cx="9601200" cy="438912"/>
          </a:xfrm>
          <a:prstGeom prst="rect">
            <a:avLst/>
          </a:prstGeom>
          <a:noFill/>
          <a:ln/>
        </p:spPr>
        <p:txBody>
          <a:bodyPr wrap="square" lIns="0" tIns="0" rIns="0" bIns="0" rtlCol="0" anchor="ctr"/>
          <a:lstStyle/>
          <a:p>
            <a:pPr indent="0" marL="0">
              <a:buNone/>
            </a:pPr>
            <a:r>
              <a:rPr lang="en-US" sz="2600" b="1" dirty="0">
                <a:solidFill>
                  <a:srgbClr val="1A2332"/>
                </a:solidFill>
                <a:latin typeface="IBM Plex Sans" pitchFamily="34" charset="0"/>
                <a:ea typeface="IBM Plex Sans" pitchFamily="34" charset="-122"/>
                <a:cs typeface="IBM Plex Sans" pitchFamily="34" charset="-120"/>
              </a:rPr>
              <a:t>One coherent place</a:t>
            </a:r>
            <a:endParaRPr lang="en-US" sz="2600" dirty="0"/>
          </a:p>
        </p:txBody>
      </p:sp>
      <p:sp>
        <p:nvSpPr>
          <p:cNvPr id="6" name="Text 4"/>
          <p:cNvSpPr/>
          <p:nvPr/>
        </p:nvSpPr>
        <p:spPr>
          <a:xfrm>
            <a:off x="1828800" y="2075688"/>
            <a:ext cx="9601200" cy="365760"/>
          </a:xfrm>
          <a:prstGeom prst="rect">
            <a:avLst/>
          </a:prstGeom>
          <a:noFill/>
          <a:ln/>
        </p:spPr>
        <p:txBody>
          <a:bodyPr wrap="square" lIns="0" tIns="0" rIns="0" bIns="0" rtlCol="0" anchor="ctr"/>
          <a:lstStyle/>
          <a:p>
            <a:pPr indent="0" marL="0">
              <a:buNone/>
            </a:pPr>
            <a:r>
              <a:rPr lang="en-US" sz="1800" dirty="0">
                <a:solidFill>
                  <a:srgbClr val="5A6A7E"/>
                </a:solidFill>
                <a:latin typeface="IBM Plex Sans" pitchFamily="34" charset="0"/>
                <a:ea typeface="IBM Plex Sans" pitchFamily="34" charset="-122"/>
                <a:cs typeface="IBM Plex Sans" pitchFamily="34" charset="-120"/>
              </a:rPr>
              <a:t>View it and edit it there.</a:t>
            </a:r>
            <a:endParaRPr lang="en-US" sz="1800" dirty="0"/>
          </a:p>
        </p:txBody>
      </p:sp>
      <p:sp>
        <p:nvSpPr>
          <p:cNvPr id="7" name="Text 5"/>
          <p:cNvSpPr/>
          <p:nvPr/>
        </p:nvSpPr>
        <p:spPr>
          <a:xfrm>
            <a:off x="502920" y="3017520"/>
            <a:ext cx="1097280" cy="640080"/>
          </a:xfrm>
          <a:prstGeom prst="rect">
            <a:avLst/>
          </a:prstGeom>
          <a:noFill/>
          <a:ln/>
        </p:spPr>
        <p:txBody>
          <a:bodyPr wrap="square" lIns="0" tIns="0" rIns="0" bIns="0" rtlCol="0" anchor="ctr"/>
          <a:lstStyle/>
          <a:p>
            <a:pPr indent="0" marL="0">
              <a:buNone/>
            </a:pPr>
            <a:r>
              <a:rPr lang="en-US" sz="2200" dirty="0">
                <a:solidFill>
                  <a:srgbClr val="0D6E8C"/>
                </a:solidFill>
                <a:latin typeface="IBM Plex Mono" pitchFamily="34" charset="0"/>
                <a:ea typeface="IBM Plex Mono" pitchFamily="34" charset="-122"/>
                <a:cs typeface="IBM Plex Mono" pitchFamily="34" charset="-120"/>
              </a:rPr>
              <a:t>02</a:t>
            </a:r>
            <a:endParaRPr lang="en-US" sz="2200" dirty="0"/>
          </a:p>
        </p:txBody>
      </p:sp>
      <p:sp>
        <p:nvSpPr>
          <p:cNvPr id="8" name="Text 6"/>
          <p:cNvSpPr/>
          <p:nvPr/>
        </p:nvSpPr>
        <p:spPr>
          <a:xfrm>
            <a:off x="1828800" y="3017520"/>
            <a:ext cx="9601200" cy="438912"/>
          </a:xfrm>
          <a:prstGeom prst="rect">
            <a:avLst/>
          </a:prstGeom>
          <a:noFill/>
          <a:ln/>
        </p:spPr>
        <p:txBody>
          <a:bodyPr wrap="square" lIns="0" tIns="0" rIns="0" bIns="0" rtlCol="0" anchor="ctr"/>
          <a:lstStyle/>
          <a:p>
            <a:pPr indent="0" marL="0">
              <a:buNone/>
            </a:pPr>
            <a:r>
              <a:rPr lang="en-US" sz="2600" b="1" dirty="0">
                <a:solidFill>
                  <a:srgbClr val="1A2332"/>
                </a:solidFill>
                <a:latin typeface="IBM Plex Sans" pitchFamily="34" charset="0"/>
                <a:ea typeface="IBM Plex Sans" pitchFamily="34" charset="-122"/>
                <a:cs typeface="IBM Plex Sans" pitchFamily="34" charset="-120"/>
              </a:rPr>
              <a:t>Shared metadata</a:t>
            </a:r>
            <a:endParaRPr lang="en-US" sz="2600" dirty="0"/>
          </a:p>
        </p:txBody>
      </p:sp>
      <p:sp>
        <p:nvSpPr>
          <p:cNvPr id="9" name="Text 7"/>
          <p:cNvSpPr/>
          <p:nvPr/>
        </p:nvSpPr>
        <p:spPr>
          <a:xfrm>
            <a:off x="1828800" y="3493008"/>
            <a:ext cx="9601200" cy="365760"/>
          </a:xfrm>
          <a:prstGeom prst="rect">
            <a:avLst/>
          </a:prstGeom>
          <a:noFill/>
          <a:ln/>
        </p:spPr>
        <p:txBody>
          <a:bodyPr wrap="square" lIns="0" tIns="0" rIns="0" bIns="0" rtlCol="0" anchor="ctr"/>
          <a:lstStyle/>
          <a:p>
            <a:pPr indent="0" marL="0">
              <a:buNone/>
            </a:pPr>
            <a:r>
              <a:rPr lang="en-US" sz="1800" dirty="0">
                <a:solidFill>
                  <a:srgbClr val="5A6A7E"/>
                </a:solidFill>
                <a:latin typeface="IBM Plex Sans" pitchFamily="34" charset="0"/>
                <a:ea typeface="IBM Plex Sans" pitchFamily="34" charset="-122"/>
                <a:cs typeface="IBM Plex Sans" pitchFamily="34" charset="-120"/>
              </a:rPr>
              <a:t>Specialist tools plug in. They are not the only home.</a:t>
            </a:r>
            <a:endParaRPr lang="en-US" sz="1800" dirty="0"/>
          </a:p>
        </p:txBody>
      </p:sp>
      <p:sp>
        <p:nvSpPr>
          <p:cNvPr id="10" name="Text 8"/>
          <p:cNvSpPr/>
          <p:nvPr/>
        </p:nvSpPr>
        <p:spPr>
          <a:xfrm>
            <a:off x="502920" y="4434840"/>
            <a:ext cx="1097280" cy="640080"/>
          </a:xfrm>
          <a:prstGeom prst="rect">
            <a:avLst/>
          </a:prstGeom>
          <a:noFill/>
          <a:ln/>
        </p:spPr>
        <p:txBody>
          <a:bodyPr wrap="square" lIns="0" tIns="0" rIns="0" bIns="0" rtlCol="0" anchor="ctr"/>
          <a:lstStyle/>
          <a:p>
            <a:pPr indent="0" marL="0">
              <a:buNone/>
            </a:pPr>
            <a:r>
              <a:rPr lang="en-US" sz="2200" dirty="0">
                <a:solidFill>
                  <a:srgbClr val="0D6E8C"/>
                </a:solidFill>
                <a:latin typeface="IBM Plex Mono" pitchFamily="34" charset="0"/>
                <a:ea typeface="IBM Plex Mono" pitchFamily="34" charset="-122"/>
                <a:cs typeface="IBM Plex Mono" pitchFamily="34" charset="-120"/>
              </a:rPr>
              <a:t>03</a:t>
            </a:r>
            <a:endParaRPr lang="en-US" sz="2200" dirty="0"/>
          </a:p>
        </p:txBody>
      </p:sp>
      <p:sp>
        <p:nvSpPr>
          <p:cNvPr id="11" name="Text 9"/>
          <p:cNvSpPr/>
          <p:nvPr/>
        </p:nvSpPr>
        <p:spPr>
          <a:xfrm>
            <a:off x="1828800" y="4434840"/>
            <a:ext cx="9601200" cy="438912"/>
          </a:xfrm>
          <a:prstGeom prst="rect">
            <a:avLst/>
          </a:prstGeom>
          <a:noFill/>
          <a:ln/>
        </p:spPr>
        <p:txBody>
          <a:bodyPr wrap="square" lIns="0" tIns="0" rIns="0" bIns="0" rtlCol="0" anchor="ctr"/>
          <a:lstStyle/>
          <a:p>
            <a:pPr indent="0" marL="0">
              <a:buNone/>
            </a:pPr>
            <a:r>
              <a:rPr lang="en-US" sz="2600" b="1" dirty="0">
                <a:solidFill>
                  <a:srgbClr val="1A2332"/>
                </a:solidFill>
                <a:latin typeface="IBM Plex Sans" pitchFamily="34" charset="0"/>
                <a:ea typeface="IBM Plex Sans" pitchFamily="34" charset="-122"/>
                <a:cs typeface="IBM Plex Sans" pitchFamily="34" charset="-120"/>
              </a:rPr>
              <a:t>Keep visibility</a:t>
            </a:r>
            <a:endParaRPr lang="en-US" sz="2600" dirty="0"/>
          </a:p>
        </p:txBody>
      </p:sp>
      <p:sp>
        <p:nvSpPr>
          <p:cNvPr id="12" name="Text 10"/>
          <p:cNvSpPr/>
          <p:nvPr/>
        </p:nvSpPr>
        <p:spPr>
          <a:xfrm>
            <a:off x="1828800" y="4910328"/>
            <a:ext cx="9601200" cy="365760"/>
          </a:xfrm>
          <a:prstGeom prst="rect">
            <a:avLst/>
          </a:prstGeom>
          <a:noFill/>
          <a:ln/>
        </p:spPr>
        <p:txBody>
          <a:bodyPr wrap="square" lIns="0" tIns="0" rIns="0" bIns="0" rtlCol="0" anchor="ctr"/>
          <a:lstStyle/>
          <a:p>
            <a:pPr indent="0" marL="0">
              <a:buNone/>
            </a:pPr>
            <a:r>
              <a:rPr lang="en-US" sz="1800" dirty="0">
                <a:solidFill>
                  <a:srgbClr val="5A6A7E"/>
                </a:solidFill>
                <a:latin typeface="IBM Plex Sans" pitchFamily="34" charset="0"/>
                <a:ea typeface="IBM Plex Sans" pitchFamily="34" charset="-122"/>
                <a:cs typeface="IBM Plex Sans" pitchFamily="34" charset="-120"/>
              </a:rPr>
              <a:t>When depth and visibility conflict, keep visibility and editability.</a:t>
            </a:r>
            <a:endParaRPr lang="en-US" sz="1800" dirty="0"/>
          </a:p>
        </p:txBody>
      </p:sp>
      <p:sp>
        <p:nvSpPr>
          <p:cNvPr id="13" name="Text 11"/>
          <p:cNvSpPr/>
          <p:nvPr/>
        </p:nvSpPr>
        <p:spPr>
          <a:xfrm>
            <a:off x="502920" y="6473952"/>
            <a:ext cx="6400800" cy="237744"/>
          </a:xfrm>
          <a:prstGeom prst="rect">
            <a:avLst/>
          </a:prstGeom>
          <a:noFill/>
          <a:ln/>
        </p:spPr>
        <p:txBody>
          <a:bodyPr wrap="square" lIns="0" tIns="0" rIns="0" bIns="0" rtlCol="0" anchor="ctr"/>
          <a:lstStyle/>
          <a:p>
            <a:pPr indent="0" marL="0">
              <a:buNone/>
            </a:pPr>
            <a:r>
              <a:rPr lang="en-US" sz="1200" dirty="0">
                <a:solidFill>
                  <a:srgbClr val="5A6A7E"/>
                </a:solidFill>
                <a:latin typeface="IBM Plex Sans" pitchFamily="34" charset="0"/>
                <a:ea typeface="IBM Plex Sans" pitchFamily="34" charset="-122"/>
                <a:cs typeface="IBM Plex Sans" pitchFamily="34" charset="-120"/>
              </a:rPr>
              <a:t>Full-stack transparency</a:t>
            </a:r>
            <a:endParaRPr lang="en-US" sz="1200" dirty="0"/>
          </a:p>
        </p:txBody>
      </p:sp>
      <p:sp>
        <p:nvSpPr>
          <p:cNvPr id="14" name="Text 12"/>
          <p:cNvSpPr/>
          <p:nvPr/>
        </p:nvSpPr>
        <p:spPr>
          <a:xfrm>
            <a:off x="10515600" y="6473952"/>
            <a:ext cx="1170432" cy="237744"/>
          </a:xfrm>
          <a:prstGeom prst="rect">
            <a:avLst/>
          </a:prstGeom>
          <a:noFill/>
          <a:ln/>
        </p:spPr>
        <p:txBody>
          <a:bodyPr wrap="square" lIns="0" tIns="0" rIns="0" bIns="0" rtlCol="0" anchor="ctr"/>
          <a:lstStyle/>
          <a:p>
            <a:pPr algn="r" indent="0" marL="0">
              <a:buNone/>
            </a:pPr>
            <a:r>
              <a:rPr lang="en-US" sz="1200" dirty="0">
                <a:solidFill>
                  <a:srgbClr val="5A6A7E"/>
                </a:solidFill>
                <a:latin typeface="IBM Plex Mono" pitchFamily="34" charset="0"/>
                <a:ea typeface="IBM Plex Mono" pitchFamily="34" charset="-122"/>
                <a:cs typeface="IBM Plex Mono"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11155680" cy="256032"/>
          </a:xfrm>
          <a:prstGeom prst="rect">
            <a:avLst/>
          </a:prstGeom>
          <a:noFill/>
          <a:ln/>
        </p:spPr>
        <p:txBody>
          <a:bodyPr wrap="square" lIns="0" tIns="0" rIns="0" bIns="0" rtlCol="0" anchor="ctr"/>
          <a:lstStyle/>
          <a:p>
            <a:pPr indent="0" marL="0">
              <a:buNone/>
            </a:pPr>
            <a:r>
              <a:rPr lang="en-US" sz="1200" spc="120" kern="0" dirty="0">
                <a:solidFill>
                  <a:srgbClr val="0D6E8C"/>
                </a:solidFill>
                <a:latin typeface="IBM Plex Mono" pitchFamily="34" charset="0"/>
                <a:ea typeface="IBM Plex Mono" pitchFamily="34" charset="-122"/>
                <a:cs typeface="IBM Plex Mono" pitchFamily="34" charset="-120"/>
              </a:rPr>
              <a:t>THE SHAPE</a:t>
            </a:r>
            <a:endParaRPr lang="en-US" sz="1200" dirty="0"/>
          </a:p>
        </p:txBody>
      </p:sp>
      <p:sp>
        <p:nvSpPr>
          <p:cNvPr id="3" name="Text 1"/>
          <p:cNvSpPr/>
          <p:nvPr/>
        </p:nvSpPr>
        <p:spPr>
          <a:xfrm>
            <a:off x="502920" y="658368"/>
            <a:ext cx="11155680" cy="640080"/>
          </a:xfrm>
          <a:prstGeom prst="rect">
            <a:avLst/>
          </a:prstGeom>
          <a:noFill/>
          <a:ln/>
        </p:spPr>
        <p:txBody>
          <a:bodyPr wrap="square" lIns="0" tIns="0" rIns="0" bIns="0" rtlCol="0" anchor="ctr"/>
          <a:lstStyle/>
          <a:p>
            <a:pPr indent="0" marL="0">
              <a:buNone/>
            </a:pPr>
            <a:r>
              <a:rPr lang="en-US" sz="3200" b="1" dirty="0">
                <a:solidFill>
                  <a:srgbClr val="1A2332"/>
                </a:solidFill>
                <a:latin typeface="IBM Plex Sans" pitchFamily="34" charset="0"/>
                <a:ea typeface="IBM Plex Sans" pitchFamily="34" charset="-122"/>
                <a:cs typeface="IBM Plex Sans" pitchFamily="34" charset="-120"/>
              </a:rPr>
              <a:t>One picture</a:t>
            </a:r>
            <a:endParaRPr lang="en-US" sz="3200" dirty="0"/>
          </a:p>
        </p:txBody>
      </p:sp>
      <p:sp>
        <p:nvSpPr>
          <p:cNvPr id="4" name="Shape 2"/>
          <p:cNvSpPr/>
          <p:nvPr/>
        </p:nvSpPr>
        <p:spPr>
          <a:xfrm>
            <a:off x="472288" y="1965960"/>
            <a:ext cx="1737360" cy="1965960"/>
          </a:xfrm>
          <a:prstGeom prst="rect">
            <a:avLst/>
          </a:prstGeom>
          <a:solidFill>
            <a:srgbClr val="FFF6E8"/>
          </a:solidFill>
          <a:ln w="12700">
            <a:solidFill>
              <a:srgbClr val="FFF6E8"/>
            </a:solidFill>
            <a:prstDash val="solid"/>
          </a:ln>
        </p:spPr>
      </p:sp>
      <p:sp>
        <p:nvSpPr>
          <p:cNvPr id="5" name="Shape 3"/>
          <p:cNvSpPr/>
          <p:nvPr/>
        </p:nvSpPr>
        <p:spPr>
          <a:xfrm>
            <a:off x="472288" y="1965960"/>
            <a:ext cx="1737360" cy="73152"/>
          </a:xfrm>
          <a:prstGeom prst="rect">
            <a:avLst/>
          </a:prstGeom>
          <a:solidFill>
            <a:srgbClr val="C47A12"/>
          </a:solidFill>
          <a:ln w="12700">
            <a:solidFill>
              <a:srgbClr val="C47A12"/>
            </a:solidFill>
            <a:prstDash val="solid"/>
          </a:ln>
        </p:spPr>
      </p:sp>
      <p:sp>
        <p:nvSpPr>
          <p:cNvPr id="6" name="Text 4"/>
          <p:cNvSpPr/>
          <p:nvPr/>
        </p:nvSpPr>
        <p:spPr>
          <a:xfrm>
            <a:off x="582016" y="2240280"/>
            <a:ext cx="1517904" cy="960120"/>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Landing</a:t>
            </a:r>
            <a:endParaRPr lang="en-US" sz="1600" dirty="0"/>
          </a:p>
        </p:txBody>
      </p:sp>
      <p:sp>
        <p:nvSpPr>
          <p:cNvPr id="7" name="Text 5"/>
          <p:cNvSpPr/>
          <p:nvPr/>
        </p:nvSpPr>
        <p:spPr>
          <a:xfrm>
            <a:off x="582016" y="3291840"/>
            <a:ext cx="1517904" cy="365760"/>
          </a:xfrm>
          <a:prstGeom prst="rect">
            <a:avLst/>
          </a:prstGeom>
          <a:noFill/>
          <a:ln/>
        </p:spPr>
        <p:txBody>
          <a:bodyPr wrap="square" lIns="0" tIns="0" rIns="0" bIns="0" rtlCol="0" anchor="ctr"/>
          <a:lstStyle/>
          <a:p>
            <a:pPr indent="0" marL="0">
              <a:buNone/>
            </a:pPr>
            <a:r>
              <a:rPr lang="en-US" sz="1300" dirty="0">
                <a:solidFill>
                  <a:srgbClr val="5A6A7E"/>
                </a:solidFill>
                <a:latin typeface="IBM Plex Mono" pitchFamily="34" charset="0"/>
                <a:ea typeface="IBM Plex Mono" pitchFamily="34" charset="-122"/>
                <a:cs typeface="IBM Plex Mono" pitchFamily="34" charset="-120"/>
              </a:rPr>
              <a:t>outside</a:t>
            </a:r>
            <a:endParaRPr lang="en-US" sz="1300" dirty="0"/>
          </a:p>
        </p:txBody>
      </p:sp>
      <p:sp>
        <p:nvSpPr>
          <p:cNvPr id="8" name="Shape 6"/>
          <p:cNvSpPr/>
          <p:nvPr/>
        </p:nvSpPr>
        <p:spPr>
          <a:xfrm>
            <a:off x="2374240" y="1965960"/>
            <a:ext cx="1737360" cy="1965960"/>
          </a:xfrm>
          <a:prstGeom prst="rect">
            <a:avLst/>
          </a:prstGeom>
          <a:solidFill>
            <a:srgbClr val="FFF6E8"/>
          </a:solidFill>
          <a:ln w="12700">
            <a:solidFill>
              <a:srgbClr val="FFF6E8"/>
            </a:solidFill>
            <a:prstDash val="solid"/>
          </a:ln>
        </p:spPr>
      </p:sp>
      <p:sp>
        <p:nvSpPr>
          <p:cNvPr id="9" name="Shape 7"/>
          <p:cNvSpPr/>
          <p:nvPr/>
        </p:nvSpPr>
        <p:spPr>
          <a:xfrm>
            <a:off x="2374240" y="1965960"/>
            <a:ext cx="1737360" cy="73152"/>
          </a:xfrm>
          <a:prstGeom prst="rect">
            <a:avLst/>
          </a:prstGeom>
          <a:solidFill>
            <a:srgbClr val="C47A12"/>
          </a:solidFill>
          <a:ln w="12700">
            <a:solidFill>
              <a:srgbClr val="C47A12"/>
            </a:solidFill>
            <a:prstDash val="solid"/>
          </a:ln>
        </p:spPr>
      </p:sp>
      <p:sp>
        <p:nvSpPr>
          <p:cNvPr id="10" name="Text 8"/>
          <p:cNvSpPr/>
          <p:nvPr/>
        </p:nvSpPr>
        <p:spPr>
          <a:xfrm>
            <a:off x="2483968" y="2240280"/>
            <a:ext cx="1517904" cy="960120"/>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Source model</a:t>
            </a:r>
            <a:endParaRPr lang="en-US" sz="1600" dirty="0"/>
          </a:p>
        </p:txBody>
      </p:sp>
      <p:sp>
        <p:nvSpPr>
          <p:cNvPr id="11" name="Text 9"/>
          <p:cNvSpPr/>
          <p:nvPr/>
        </p:nvSpPr>
        <p:spPr>
          <a:xfrm>
            <a:off x="2483968" y="3291840"/>
            <a:ext cx="1517904" cy="365760"/>
          </a:xfrm>
          <a:prstGeom prst="rect">
            <a:avLst/>
          </a:prstGeom>
          <a:noFill/>
          <a:ln/>
        </p:spPr>
        <p:txBody>
          <a:bodyPr wrap="square" lIns="0" tIns="0" rIns="0" bIns="0" rtlCol="0" anchor="ctr"/>
          <a:lstStyle/>
          <a:p>
            <a:pPr indent="0" marL="0">
              <a:buNone/>
            </a:pPr>
            <a:r>
              <a:rPr lang="en-US" sz="1300" dirty="0">
                <a:solidFill>
                  <a:srgbClr val="5A6A7E"/>
                </a:solidFill>
                <a:latin typeface="IBM Plex Mono" pitchFamily="34" charset="0"/>
                <a:ea typeface="IBM Plex Mono" pitchFamily="34" charset="-122"/>
                <a:cs typeface="IBM Plex Mono" pitchFamily="34" charset="-120"/>
              </a:rPr>
              <a:t>.hsm</a:t>
            </a:r>
            <a:endParaRPr lang="en-US" sz="1300" dirty="0"/>
          </a:p>
        </p:txBody>
      </p:sp>
      <p:sp>
        <p:nvSpPr>
          <p:cNvPr id="12" name="Shape 10"/>
          <p:cNvSpPr/>
          <p:nvPr/>
        </p:nvSpPr>
        <p:spPr>
          <a:xfrm>
            <a:off x="4276192" y="1965960"/>
            <a:ext cx="1737360" cy="1965960"/>
          </a:xfrm>
          <a:prstGeom prst="rect">
            <a:avLst/>
          </a:prstGeom>
          <a:solidFill>
            <a:srgbClr val="EDF0F4"/>
          </a:solidFill>
          <a:ln w="12700">
            <a:solidFill>
              <a:srgbClr val="EDF0F4"/>
            </a:solidFill>
            <a:prstDash val="solid"/>
          </a:ln>
        </p:spPr>
      </p:sp>
      <p:sp>
        <p:nvSpPr>
          <p:cNvPr id="13" name="Shape 11"/>
          <p:cNvSpPr/>
          <p:nvPr/>
        </p:nvSpPr>
        <p:spPr>
          <a:xfrm>
            <a:off x="4276192" y="1965960"/>
            <a:ext cx="1737360" cy="73152"/>
          </a:xfrm>
          <a:prstGeom prst="rect">
            <a:avLst/>
          </a:prstGeom>
          <a:solidFill>
            <a:srgbClr val="4A5568"/>
          </a:solidFill>
          <a:ln w="12700">
            <a:solidFill>
              <a:srgbClr val="4A5568"/>
            </a:solidFill>
            <a:prstDash val="solid"/>
          </a:ln>
        </p:spPr>
      </p:sp>
      <p:sp>
        <p:nvSpPr>
          <p:cNvPr id="14" name="Text 12"/>
          <p:cNvSpPr/>
          <p:nvPr/>
        </p:nvSpPr>
        <p:spPr>
          <a:xfrm>
            <a:off x="4385920" y="2240280"/>
            <a:ext cx="1517904" cy="960120"/>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Catalog</a:t>
            </a:r>
            <a:endParaRPr lang="en-US" sz="1600" dirty="0"/>
          </a:p>
        </p:txBody>
      </p:sp>
      <p:sp>
        <p:nvSpPr>
          <p:cNvPr id="15" name="Text 13"/>
          <p:cNvSpPr/>
          <p:nvPr/>
        </p:nvSpPr>
        <p:spPr>
          <a:xfrm>
            <a:off x="4385920" y="3291840"/>
            <a:ext cx="1517904" cy="365760"/>
          </a:xfrm>
          <a:prstGeom prst="rect">
            <a:avLst/>
          </a:prstGeom>
          <a:noFill/>
          <a:ln/>
        </p:spPr>
        <p:txBody>
          <a:bodyPr wrap="square" lIns="0" tIns="0" rIns="0" bIns="0" rtlCol="0" anchor="ctr"/>
          <a:lstStyle/>
          <a:p>
            <a:pPr indent="0" marL="0">
              <a:buNone/>
            </a:pPr>
            <a:r>
              <a:rPr lang="en-US" sz="1300" dirty="0">
                <a:solidFill>
                  <a:srgbClr val="5A6A7E"/>
                </a:solidFill>
                <a:latin typeface="IBM Plex Mono" pitchFamily="34" charset="0"/>
                <a:ea typeface="IBM Plex Mono" pitchFamily="34" charset="-122"/>
                <a:cs typeface="IBM Plex Mono" pitchFamily="34" charset="-120"/>
              </a:rPr>
              <a:t>the contract</a:t>
            </a:r>
            <a:endParaRPr lang="en-US" sz="1300" dirty="0"/>
          </a:p>
        </p:txBody>
      </p:sp>
      <p:sp>
        <p:nvSpPr>
          <p:cNvPr id="16" name="Shape 14"/>
          <p:cNvSpPr/>
          <p:nvPr/>
        </p:nvSpPr>
        <p:spPr>
          <a:xfrm>
            <a:off x="6178144" y="1965960"/>
            <a:ext cx="1737360" cy="1965960"/>
          </a:xfrm>
          <a:prstGeom prst="rect">
            <a:avLst/>
          </a:prstGeom>
          <a:solidFill>
            <a:srgbClr val="E8F0FB"/>
          </a:solidFill>
          <a:ln w="12700">
            <a:solidFill>
              <a:srgbClr val="E8F0FB"/>
            </a:solidFill>
            <a:prstDash val="solid"/>
          </a:ln>
        </p:spPr>
      </p:sp>
      <p:sp>
        <p:nvSpPr>
          <p:cNvPr id="17" name="Shape 15"/>
          <p:cNvSpPr/>
          <p:nvPr/>
        </p:nvSpPr>
        <p:spPr>
          <a:xfrm>
            <a:off x="6178144" y="1965960"/>
            <a:ext cx="1737360" cy="73152"/>
          </a:xfrm>
          <a:prstGeom prst="rect">
            <a:avLst/>
          </a:prstGeom>
          <a:solidFill>
            <a:srgbClr val="1A5FB4"/>
          </a:solidFill>
          <a:ln w="12700">
            <a:solidFill>
              <a:srgbClr val="1A5FB4"/>
            </a:solidFill>
            <a:prstDash val="solid"/>
          </a:ln>
        </p:spPr>
      </p:sp>
      <p:sp>
        <p:nvSpPr>
          <p:cNvPr id="18" name="Text 16"/>
          <p:cNvSpPr/>
          <p:nvPr/>
        </p:nvSpPr>
        <p:spPr>
          <a:xfrm>
            <a:off x="6287872" y="2240280"/>
            <a:ext cx="1517904" cy="960120"/>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Raw vault</a:t>
            </a:r>
            <a:endParaRPr lang="en-US" sz="1600" dirty="0"/>
          </a:p>
        </p:txBody>
      </p:sp>
      <p:sp>
        <p:nvSpPr>
          <p:cNvPr id="19" name="Text 17"/>
          <p:cNvSpPr/>
          <p:nvPr/>
        </p:nvSpPr>
        <p:spPr>
          <a:xfrm>
            <a:off x="6287872" y="3291840"/>
            <a:ext cx="1517904" cy="365760"/>
          </a:xfrm>
          <a:prstGeom prst="rect">
            <a:avLst/>
          </a:prstGeom>
          <a:noFill/>
          <a:ln/>
        </p:spPr>
        <p:txBody>
          <a:bodyPr wrap="square" lIns="0" tIns="0" rIns="0" bIns="0" rtlCol="0" anchor="ctr"/>
          <a:lstStyle/>
          <a:p>
            <a:pPr indent="0" marL="0">
              <a:buNone/>
            </a:pPr>
            <a:r>
              <a:rPr lang="en-US" sz="1300" dirty="0">
                <a:solidFill>
                  <a:srgbClr val="5A6A7E"/>
                </a:solidFill>
                <a:latin typeface="IBM Plex Mono" pitchFamily="34" charset="0"/>
                <a:ea typeface="IBM Plex Mono" pitchFamily="34" charset="-122"/>
                <a:cs typeface="IBM Plex Mono" pitchFamily="34" charset="-120"/>
              </a:rPr>
              <a:t>.hdv</a:t>
            </a:r>
            <a:endParaRPr lang="en-US" sz="1300" dirty="0"/>
          </a:p>
        </p:txBody>
      </p:sp>
      <p:sp>
        <p:nvSpPr>
          <p:cNvPr id="20" name="Shape 18"/>
          <p:cNvSpPr/>
          <p:nvPr/>
        </p:nvSpPr>
        <p:spPr>
          <a:xfrm>
            <a:off x="8080096" y="1965960"/>
            <a:ext cx="1737360" cy="1965960"/>
          </a:xfrm>
          <a:prstGeom prst="rect">
            <a:avLst/>
          </a:prstGeom>
          <a:solidFill>
            <a:srgbClr val="F3EBFB"/>
          </a:solidFill>
          <a:ln w="12700">
            <a:solidFill>
              <a:srgbClr val="F3EBFB"/>
            </a:solidFill>
            <a:prstDash val="solid"/>
          </a:ln>
        </p:spPr>
      </p:sp>
      <p:sp>
        <p:nvSpPr>
          <p:cNvPr id="21" name="Shape 19"/>
          <p:cNvSpPr/>
          <p:nvPr/>
        </p:nvSpPr>
        <p:spPr>
          <a:xfrm>
            <a:off x="8080096" y="1965960"/>
            <a:ext cx="1737360" cy="73152"/>
          </a:xfrm>
          <a:prstGeom prst="rect">
            <a:avLst/>
          </a:prstGeom>
          <a:solidFill>
            <a:srgbClr val="6B3FA0"/>
          </a:solidFill>
          <a:ln w="12700">
            <a:solidFill>
              <a:srgbClr val="6B3FA0"/>
            </a:solidFill>
            <a:prstDash val="solid"/>
          </a:ln>
        </p:spPr>
      </p:sp>
      <p:sp>
        <p:nvSpPr>
          <p:cNvPr id="22" name="Text 20"/>
          <p:cNvSpPr/>
          <p:nvPr/>
        </p:nvSpPr>
        <p:spPr>
          <a:xfrm>
            <a:off x="8189824" y="2240280"/>
            <a:ext cx="1517904" cy="960120"/>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Business vault</a:t>
            </a:r>
            <a:endParaRPr lang="en-US" sz="1600" dirty="0"/>
          </a:p>
        </p:txBody>
      </p:sp>
      <p:sp>
        <p:nvSpPr>
          <p:cNvPr id="23" name="Text 21"/>
          <p:cNvSpPr/>
          <p:nvPr/>
        </p:nvSpPr>
        <p:spPr>
          <a:xfrm>
            <a:off x="8189824" y="3291840"/>
            <a:ext cx="1517904" cy="365760"/>
          </a:xfrm>
          <a:prstGeom prst="rect">
            <a:avLst/>
          </a:prstGeom>
          <a:noFill/>
          <a:ln/>
        </p:spPr>
        <p:txBody>
          <a:bodyPr wrap="square" lIns="0" tIns="0" rIns="0" bIns="0" rtlCol="0" anchor="ctr"/>
          <a:lstStyle/>
          <a:p>
            <a:pPr indent="0" marL="0">
              <a:buNone/>
            </a:pPr>
            <a:r>
              <a:rPr lang="en-US" sz="1300" dirty="0">
                <a:solidFill>
                  <a:srgbClr val="5A6A7E"/>
                </a:solidFill>
                <a:latin typeface="IBM Plex Mono" pitchFamily="34" charset="0"/>
                <a:ea typeface="IBM Plex Mono" pitchFamily="34" charset="-122"/>
                <a:cs typeface="IBM Plex Mono" pitchFamily="34" charset="-120"/>
              </a:rPr>
              <a:t>.hbv</a:t>
            </a:r>
            <a:endParaRPr lang="en-US" sz="1300" dirty="0"/>
          </a:p>
        </p:txBody>
      </p:sp>
      <p:sp>
        <p:nvSpPr>
          <p:cNvPr id="24" name="Shape 22"/>
          <p:cNvSpPr/>
          <p:nvPr/>
        </p:nvSpPr>
        <p:spPr>
          <a:xfrm>
            <a:off x="9982048" y="1965960"/>
            <a:ext cx="1737360" cy="1965960"/>
          </a:xfrm>
          <a:prstGeom prst="rect">
            <a:avLst/>
          </a:prstGeom>
          <a:solidFill>
            <a:srgbClr val="E7F6ED"/>
          </a:solidFill>
          <a:ln w="12700">
            <a:solidFill>
              <a:srgbClr val="E7F6ED"/>
            </a:solidFill>
            <a:prstDash val="solid"/>
          </a:ln>
        </p:spPr>
      </p:sp>
      <p:sp>
        <p:nvSpPr>
          <p:cNvPr id="25" name="Shape 23"/>
          <p:cNvSpPr/>
          <p:nvPr/>
        </p:nvSpPr>
        <p:spPr>
          <a:xfrm>
            <a:off x="9982048" y="1965960"/>
            <a:ext cx="1737360" cy="73152"/>
          </a:xfrm>
          <a:prstGeom prst="rect">
            <a:avLst/>
          </a:prstGeom>
          <a:solidFill>
            <a:srgbClr val="1E7A46"/>
          </a:solidFill>
          <a:ln w="12700">
            <a:solidFill>
              <a:srgbClr val="1E7A46"/>
            </a:solidFill>
            <a:prstDash val="solid"/>
          </a:ln>
        </p:spPr>
      </p:sp>
      <p:sp>
        <p:nvSpPr>
          <p:cNvPr id="26" name="Text 24"/>
          <p:cNvSpPr/>
          <p:nvPr/>
        </p:nvSpPr>
        <p:spPr>
          <a:xfrm>
            <a:off x="10091776" y="2240280"/>
            <a:ext cx="1517904" cy="960120"/>
          </a:xfrm>
          <a:prstGeom prst="rect">
            <a:avLst/>
          </a:prstGeom>
          <a:noFill/>
          <a:ln/>
        </p:spPr>
        <p:txBody>
          <a:bodyPr wrap="square" lIns="0" tIns="0" rIns="0" bIns="0" rtlCol="0" anchor="ctr"/>
          <a:lstStyle/>
          <a:p>
            <a:pPr indent="0" marL="0">
              <a:buNone/>
            </a:pPr>
            <a:r>
              <a:rPr lang="en-US" sz="1600" b="1" dirty="0">
                <a:solidFill>
                  <a:srgbClr val="1A2332"/>
                </a:solidFill>
                <a:latin typeface="IBM Plex Sans" pitchFamily="34" charset="0"/>
                <a:ea typeface="IBM Plex Sans" pitchFamily="34" charset="-122"/>
                <a:cs typeface="IBM Plex Sans" pitchFamily="34" charset="-120"/>
              </a:rPr>
              <a:t>Dimensional</a:t>
            </a:r>
            <a:endParaRPr lang="en-US" sz="1600" dirty="0"/>
          </a:p>
        </p:txBody>
      </p:sp>
      <p:sp>
        <p:nvSpPr>
          <p:cNvPr id="27" name="Text 25"/>
          <p:cNvSpPr/>
          <p:nvPr/>
        </p:nvSpPr>
        <p:spPr>
          <a:xfrm>
            <a:off x="10091776" y="3291840"/>
            <a:ext cx="1517904" cy="365760"/>
          </a:xfrm>
          <a:prstGeom prst="rect">
            <a:avLst/>
          </a:prstGeom>
          <a:noFill/>
          <a:ln/>
        </p:spPr>
        <p:txBody>
          <a:bodyPr wrap="square" lIns="0" tIns="0" rIns="0" bIns="0" rtlCol="0" anchor="ctr"/>
          <a:lstStyle/>
          <a:p>
            <a:pPr indent="0" marL="0">
              <a:buNone/>
            </a:pPr>
            <a:r>
              <a:rPr lang="en-US" sz="1300" dirty="0">
                <a:solidFill>
                  <a:srgbClr val="5A6A7E"/>
                </a:solidFill>
                <a:latin typeface="IBM Plex Mono" pitchFamily="34" charset="0"/>
                <a:ea typeface="IBM Plex Mono" pitchFamily="34" charset="-122"/>
                <a:cs typeface="IBM Plex Mono" pitchFamily="34" charset="-120"/>
              </a:rPr>
              <a:t>.hdm</a:t>
            </a:r>
            <a:endParaRPr lang="en-US" sz="1300" dirty="0"/>
          </a:p>
        </p:txBody>
      </p:sp>
      <p:sp>
        <p:nvSpPr>
          <p:cNvPr id="28" name="Text 26"/>
          <p:cNvSpPr/>
          <p:nvPr/>
        </p:nvSpPr>
        <p:spPr>
          <a:xfrm>
            <a:off x="502920" y="4297680"/>
            <a:ext cx="11155680" cy="914400"/>
          </a:xfrm>
          <a:prstGeom prst="rect">
            <a:avLst/>
          </a:prstGeom>
          <a:noFill/>
          <a:ln/>
        </p:spPr>
        <p:txBody>
          <a:bodyPr wrap="square" lIns="0" tIns="0" rIns="0" bIns="0" rtlCol="0" anchor="ctr"/>
          <a:lstStyle/>
          <a:p>
            <a:pPr indent="0" marL="0">
              <a:buNone/>
            </a:pPr>
            <a:r>
              <a:rPr lang="en-US" sz="2000" dirty="0">
                <a:solidFill>
                  <a:srgbClr val="1A2332"/>
                </a:solidFill>
                <a:latin typeface="IBM Plex Sans" pitchFamily="34" charset="0"/>
                <a:ea typeface="IBM Plex Sans" pitchFamily="34" charset="-122"/>
                <a:cs typeface="IBM Plex Sans" pitchFamily="34" charset="-120"/>
              </a:rPr>
              <a:t>One group lists every model.</a:t>
            </a:r>
            <a:endParaRPr lang="en-US" sz="2000" dirty="0"/>
          </a:p>
          <a:p>
            <a:pPr indent="0" marL="0">
              <a:buNone/>
            </a:pPr>
            <a:r>
              <a:rPr lang="en-US" sz="2000" dirty="0">
                <a:solidFill>
                  <a:srgbClr val="1A2332"/>
                </a:solidFill>
                <a:latin typeface="IBM Plex Sans" pitchFamily="34" charset="0"/>
                <a:ea typeface="IBM Plex Sans" pitchFamily="34" charset="-122"/>
                <a:cs typeface="IBM Plex Sans" pitchFamily="34" charset="-120"/>
              </a:rPr>
              <a:t>Harvest observes. Publishing is a deliberate write.</a:t>
            </a:r>
            <a:endParaRPr lang="en-US" sz="2000" dirty="0"/>
          </a:p>
        </p:txBody>
      </p:sp>
      <p:sp>
        <p:nvSpPr>
          <p:cNvPr id="29" name="Text 27"/>
          <p:cNvSpPr/>
          <p:nvPr/>
        </p:nvSpPr>
        <p:spPr>
          <a:xfrm>
            <a:off x="502920" y="6473952"/>
            <a:ext cx="6400800" cy="237744"/>
          </a:xfrm>
          <a:prstGeom prst="rect">
            <a:avLst/>
          </a:prstGeom>
          <a:noFill/>
          <a:ln/>
        </p:spPr>
        <p:txBody>
          <a:bodyPr wrap="square" lIns="0" tIns="0" rIns="0" bIns="0" rtlCol="0" anchor="ctr"/>
          <a:lstStyle/>
          <a:p>
            <a:pPr indent="0" marL="0">
              <a:buNone/>
            </a:pPr>
            <a:r>
              <a:rPr lang="en-US" sz="1200" dirty="0">
                <a:solidFill>
                  <a:srgbClr val="5A6A7E"/>
                </a:solidFill>
                <a:latin typeface="IBM Plex Sans" pitchFamily="34" charset="0"/>
                <a:ea typeface="IBM Plex Sans" pitchFamily="34" charset="-122"/>
                <a:cs typeface="IBM Plex Sans" pitchFamily="34" charset="-120"/>
              </a:rPr>
              <a:t>Full-stack transparency</a:t>
            </a:r>
            <a:endParaRPr lang="en-US" sz="1200" dirty="0"/>
          </a:p>
        </p:txBody>
      </p:sp>
      <p:sp>
        <p:nvSpPr>
          <p:cNvPr id="30" name="Text 28"/>
          <p:cNvSpPr/>
          <p:nvPr/>
        </p:nvSpPr>
        <p:spPr>
          <a:xfrm>
            <a:off x="10515600" y="6473952"/>
            <a:ext cx="1170432" cy="237744"/>
          </a:xfrm>
          <a:prstGeom prst="rect">
            <a:avLst/>
          </a:prstGeom>
          <a:noFill/>
          <a:ln/>
        </p:spPr>
        <p:txBody>
          <a:bodyPr wrap="square" lIns="0" tIns="0" rIns="0" bIns="0" rtlCol="0" anchor="ctr"/>
          <a:lstStyle/>
          <a:p>
            <a:pPr algn="r" indent="0" marL="0">
              <a:buNone/>
            </a:pPr>
            <a:r>
              <a:rPr lang="en-US" sz="1200" dirty="0">
                <a:solidFill>
                  <a:srgbClr val="5A6A7E"/>
                </a:solidFill>
                <a:latin typeface="IBM Plex Mono" pitchFamily="34" charset="0"/>
                <a:ea typeface="IBM Plex Mono" pitchFamily="34" charset="-122"/>
                <a:cs typeface="IBM Plex Mono"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11155680" cy="256032"/>
          </a:xfrm>
          <a:prstGeom prst="rect">
            <a:avLst/>
          </a:prstGeom>
          <a:noFill/>
          <a:ln/>
        </p:spPr>
        <p:txBody>
          <a:bodyPr wrap="square" lIns="0" tIns="0" rIns="0" bIns="0" rtlCol="0" anchor="ctr"/>
          <a:lstStyle/>
          <a:p>
            <a:pPr indent="0" marL="0">
              <a:buNone/>
            </a:pPr>
            <a:r>
              <a:rPr lang="en-US" sz="1200" spc="120" kern="0" dirty="0">
                <a:solidFill>
                  <a:srgbClr val="0D6E8C"/>
                </a:solidFill>
                <a:latin typeface="IBM Plex Mono" pitchFamily="34" charset="0"/>
                <a:ea typeface="IBM Plex Mono" pitchFamily="34" charset="-122"/>
                <a:cs typeface="IBM Plex Mono" pitchFamily="34" charset="-120"/>
              </a:rPr>
              <a:t>EDIT, NOT ONLY VIEW</a:t>
            </a:r>
            <a:endParaRPr lang="en-US" sz="1200" dirty="0"/>
          </a:p>
        </p:txBody>
      </p:sp>
      <p:sp>
        <p:nvSpPr>
          <p:cNvPr id="3" name="Text 1"/>
          <p:cNvSpPr/>
          <p:nvPr/>
        </p:nvSpPr>
        <p:spPr>
          <a:xfrm>
            <a:off x="502920" y="658368"/>
            <a:ext cx="11155680" cy="640080"/>
          </a:xfrm>
          <a:prstGeom prst="rect">
            <a:avLst/>
          </a:prstGeom>
          <a:noFill/>
          <a:ln/>
        </p:spPr>
        <p:txBody>
          <a:bodyPr wrap="square" lIns="0" tIns="0" rIns="0" bIns="0" rtlCol="0" anchor="ctr"/>
          <a:lstStyle/>
          <a:p>
            <a:pPr indent="0" marL="0">
              <a:buNone/>
            </a:pPr>
            <a:r>
              <a:rPr lang="en-US" sz="3200" b="1" dirty="0">
                <a:solidFill>
                  <a:srgbClr val="1A2332"/>
                </a:solidFill>
                <a:latin typeface="IBM Plex Sans" pitchFamily="34" charset="0"/>
                <a:ea typeface="IBM Plex Sans" pitchFamily="34" charset="-122"/>
                <a:cs typeface="IBM Plex Sans" pitchFamily="34" charset="-120"/>
              </a:rPr>
              <a:t>Generated, not hidden</a:t>
            </a:r>
            <a:endParaRPr lang="en-US" sz="3200" dirty="0"/>
          </a:p>
        </p:txBody>
      </p:sp>
      <p:sp>
        <p:nvSpPr>
          <p:cNvPr id="4" name="Text 2"/>
          <p:cNvSpPr/>
          <p:nvPr/>
        </p:nvSpPr>
        <p:spPr>
          <a:xfrm>
            <a:off x="502920" y="1417320"/>
            <a:ext cx="11155680" cy="411480"/>
          </a:xfrm>
          <a:prstGeom prst="rect">
            <a:avLst/>
          </a:prstGeom>
          <a:noFill/>
          <a:ln/>
        </p:spPr>
        <p:txBody>
          <a:bodyPr wrap="square" lIns="0" tIns="0" rIns="0" bIns="0" rtlCol="0" anchor="ctr"/>
          <a:lstStyle/>
          <a:p>
            <a:pPr indent="0" marL="0">
              <a:buNone/>
            </a:pPr>
            <a:r>
              <a:rPr lang="en-US" sz="2000" dirty="0">
                <a:solidFill>
                  <a:srgbClr val="5A6A7E"/>
                </a:solidFill>
                <a:latin typeface="IBM Plex Sans" pitchFamily="34" charset="0"/>
                <a:ea typeface="IBM Plex Sans" pitchFamily="34" charset="-122"/>
                <a:cs typeface="IBM Plex Sans" pitchFamily="34" charset="-120"/>
              </a:rPr>
              <a:t>The model is the contract.</a:t>
            </a:r>
            <a:endParaRPr lang="en-US" sz="2000" dirty="0"/>
          </a:p>
        </p:txBody>
      </p:sp>
      <p:sp>
        <p:nvSpPr>
          <p:cNvPr id="5" name="Shape 3"/>
          <p:cNvSpPr/>
          <p:nvPr/>
        </p:nvSpPr>
        <p:spPr>
          <a:xfrm>
            <a:off x="502920" y="2057400"/>
            <a:ext cx="11155680" cy="1115568"/>
          </a:xfrm>
          <a:prstGeom prst="rect">
            <a:avLst/>
          </a:prstGeom>
          <a:solidFill>
            <a:srgbClr val="FFFFFF"/>
          </a:solidFill>
          <a:ln w="12700">
            <a:solidFill>
              <a:srgbClr val="FFFFFF"/>
            </a:solidFill>
            <a:prstDash val="solid"/>
          </a:ln>
        </p:spPr>
      </p:sp>
      <p:sp>
        <p:nvSpPr>
          <p:cNvPr id="6" name="Shape 4"/>
          <p:cNvSpPr/>
          <p:nvPr/>
        </p:nvSpPr>
        <p:spPr>
          <a:xfrm>
            <a:off x="502920" y="2057400"/>
            <a:ext cx="11155680" cy="73152"/>
          </a:xfrm>
          <a:prstGeom prst="rect">
            <a:avLst/>
          </a:prstGeom>
          <a:solidFill>
            <a:srgbClr val="1A5FB4"/>
          </a:solidFill>
          <a:ln w="12700">
            <a:solidFill>
              <a:srgbClr val="1A5FB4"/>
            </a:solidFill>
            <a:prstDash val="solid"/>
          </a:ln>
        </p:spPr>
      </p:sp>
      <p:sp>
        <p:nvSpPr>
          <p:cNvPr id="7" name="Text 5"/>
          <p:cNvSpPr/>
          <p:nvPr/>
        </p:nvSpPr>
        <p:spPr>
          <a:xfrm>
            <a:off x="777240" y="2258568"/>
            <a:ext cx="10607040" cy="365760"/>
          </a:xfrm>
          <a:prstGeom prst="rect">
            <a:avLst/>
          </a:prstGeom>
          <a:noFill/>
          <a:ln/>
        </p:spPr>
        <p:txBody>
          <a:bodyPr wrap="square" lIns="0" tIns="0" rIns="0" bIns="0" rtlCol="0" anchor="ctr"/>
          <a:lstStyle/>
          <a:p>
            <a:pPr indent="0" marL="0">
              <a:buNone/>
            </a:pPr>
            <a:r>
              <a:rPr lang="en-US" sz="2200" b="1" dirty="0">
                <a:solidFill>
                  <a:srgbClr val="1A2332"/>
                </a:solidFill>
                <a:latin typeface="IBM Plex Sans" pitchFamily="34" charset="0"/>
                <a:ea typeface="IBM Plex Sans" pitchFamily="34" charset="-122"/>
                <a:cs typeface="IBM Plex Sans" pitchFamily="34" charset="-120"/>
              </a:rPr>
              <a:t>Open the pipeline</a:t>
            </a:r>
            <a:endParaRPr lang="en-US" sz="2200" dirty="0"/>
          </a:p>
        </p:txBody>
      </p:sp>
      <p:sp>
        <p:nvSpPr>
          <p:cNvPr id="8" name="Text 6"/>
          <p:cNvSpPr/>
          <p:nvPr/>
        </p:nvSpPr>
        <p:spPr>
          <a:xfrm>
            <a:off x="777240" y="2660904"/>
            <a:ext cx="10607040" cy="320040"/>
          </a:xfrm>
          <a:prstGeom prst="rect">
            <a:avLst/>
          </a:prstGeom>
          <a:noFill/>
          <a:ln/>
        </p:spPr>
        <p:txBody>
          <a:bodyPr wrap="square" lIns="0" tIns="0" rIns="0" bIns="0" rtlCol="0" anchor="ctr"/>
          <a:lstStyle/>
          <a:p>
            <a:pPr indent="0" marL="0">
              <a:buNone/>
            </a:pPr>
            <a:r>
              <a:rPr lang="en-US" sz="1600" dirty="0">
                <a:solidFill>
                  <a:srgbClr val="5A6A7E"/>
                </a:solidFill>
                <a:latin typeface="IBM Plex Sans" pitchFamily="34" charset="0"/>
                <a:ea typeface="IBM Plex Sans" pitchFamily="34" charset="-122"/>
                <a:cs typeface="IBM Plex Sans" pitchFamily="34" charset="-120"/>
              </a:rPr>
              <a:t>The load is a pipeline you can read.</a:t>
            </a:r>
            <a:endParaRPr lang="en-US" sz="1600" dirty="0"/>
          </a:p>
        </p:txBody>
      </p:sp>
      <p:sp>
        <p:nvSpPr>
          <p:cNvPr id="9" name="Shape 7"/>
          <p:cNvSpPr/>
          <p:nvPr/>
        </p:nvSpPr>
        <p:spPr>
          <a:xfrm>
            <a:off x="502920" y="3337560"/>
            <a:ext cx="11155680" cy="1115568"/>
          </a:xfrm>
          <a:prstGeom prst="rect">
            <a:avLst/>
          </a:prstGeom>
          <a:solidFill>
            <a:srgbClr val="FFFFFF"/>
          </a:solidFill>
          <a:ln w="12700">
            <a:solidFill>
              <a:srgbClr val="FFFFFF"/>
            </a:solidFill>
            <a:prstDash val="solid"/>
          </a:ln>
        </p:spPr>
      </p:sp>
      <p:sp>
        <p:nvSpPr>
          <p:cNvPr id="10" name="Shape 8"/>
          <p:cNvSpPr/>
          <p:nvPr/>
        </p:nvSpPr>
        <p:spPr>
          <a:xfrm>
            <a:off x="502920" y="3337560"/>
            <a:ext cx="11155680" cy="73152"/>
          </a:xfrm>
          <a:prstGeom prst="rect">
            <a:avLst/>
          </a:prstGeom>
          <a:solidFill>
            <a:srgbClr val="1A5FB4"/>
          </a:solidFill>
          <a:ln w="12700">
            <a:solidFill>
              <a:srgbClr val="1A5FB4"/>
            </a:solidFill>
            <a:prstDash val="solid"/>
          </a:ln>
        </p:spPr>
      </p:sp>
      <p:sp>
        <p:nvSpPr>
          <p:cNvPr id="11" name="Text 9"/>
          <p:cNvSpPr/>
          <p:nvPr/>
        </p:nvSpPr>
        <p:spPr>
          <a:xfrm>
            <a:off x="777240" y="3538728"/>
            <a:ext cx="10607040" cy="365760"/>
          </a:xfrm>
          <a:prstGeom prst="rect">
            <a:avLst/>
          </a:prstGeom>
          <a:noFill/>
          <a:ln/>
        </p:spPr>
        <p:txBody>
          <a:bodyPr wrap="square" lIns="0" tIns="0" rIns="0" bIns="0" rtlCol="0" anchor="ctr"/>
          <a:lstStyle/>
          <a:p>
            <a:pPr indent="0" marL="0">
              <a:buNone/>
            </a:pPr>
            <a:r>
              <a:rPr lang="en-US" sz="2200" b="1" dirty="0">
                <a:solidFill>
                  <a:srgbClr val="1A2332"/>
                </a:solidFill>
                <a:latin typeface="IBM Plex Sans" pitchFamily="34" charset="0"/>
                <a:ea typeface="IBM Plex Sans" pitchFamily="34" charset="-122"/>
                <a:cs typeface="IBM Plex Sans" pitchFamily="34" charset="-120"/>
              </a:rPr>
              <a:t>Read the DDL</a:t>
            </a:r>
            <a:endParaRPr lang="en-US" sz="2200" dirty="0"/>
          </a:p>
        </p:txBody>
      </p:sp>
      <p:sp>
        <p:nvSpPr>
          <p:cNvPr id="12" name="Text 10"/>
          <p:cNvSpPr/>
          <p:nvPr/>
        </p:nvSpPr>
        <p:spPr>
          <a:xfrm>
            <a:off x="777240" y="3941064"/>
            <a:ext cx="10607040" cy="320040"/>
          </a:xfrm>
          <a:prstGeom prst="rect">
            <a:avLst/>
          </a:prstGeom>
          <a:noFill/>
          <a:ln/>
        </p:spPr>
        <p:txBody>
          <a:bodyPr wrap="square" lIns="0" tIns="0" rIns="0" bIns="0" rtlCol="0" anchor="ctr"/>
          <a:lstStyle/>
          <a:p>
            <a:pPr indent="0" marL="0">
              <a:buNone/>
            </a:pPr>
            <a:r>
              <a:rPr lang="en-US" sz="1600" dirty="0">
                <a:solidFill>
                  <a:srgbClr val="5A6A7E"/>
                </a:solidFill>
                <a:latin typeface="IBM Plex Sans" pitchFamily="34" charset="0"/>
                <a:ea typeface="IBM Plex Sans" pitchFamily="34" charset="-122"/>
                <a:cs typeface="IBM Plex Sans" pitchFamily="34" charset="-120"/>
              </a:rPr>
              <a:t>The structure is explainable from the model.</a:t>
            </a:r>
            <a:endParaRPr lang="en-US" sz="1600" dirty="0"/>
          </a:p>
        </p:txBody>
      </p:sp>
      <p:sp>
        <p:nvSpPr>
          <p:cNvPr id="13" name="Shape 11"/>
          <p:cNvSpPr/>
          <p:nvPr/>
        </p:nvSpPr>
        <p:spPr>
          <a:xfrm>
            <a:off x="502920" y="4617720"/>
            <a:ext cx="11155680" cy="1115568"/>
          </a:xfrm>
          <a:prstGeom prst="rect">
            <a:avLst/>
          </a:prstGeom>
          <a:solidFill>
            <a:srgbClr val="FFFFFF"/>
          </a:solidFill>
          <a:ln w="12700">
            <a:solidFill>
              <a:srgbClr val="FFFFFF"/>
            </a:solidFill>
            <a:prstDash val="solid"/>
          </a:ln>
        </p:spPr>
      </p:sp>
      <p:sp>
        <p:nvSpPr>
          <p:cNvPr id="14" name="Shape 12"/>
          <p:cNvSpPr/>
          <p:nvPr/>
        </p:nvSpPr>
        <p:spPr>
          <a:xfrm>
            <a:off x="502920" y="4617720"/>
            <a:ext cx="11155680" cy="73152"/>
          </a:xfrm>
          <a:prstGeom prst="rect">
            <a:avLst/>
          </a:prstGeom>
          <a:solidFill>
            <a:srgbClr val="1A5FB4"/>
          </a:solidFill>
          <a:ln w="12700">
            <a:solidFill>
              <a:srgbClr val="1A5FB4"/>
            </a:solidFill>
            <a:prstDash val="solid"/>
          </a:ln>
        </p:spPr>
      </p:sp>
      <p:sp>
        <p:nvSpPr>
          <p:cNvPr id="15" name="Text 13"/>
          <p:cNvSpPr/>
          <p:nvPr/>
        </p:nvSpPr>
        <p:spPr>
          <a:xfrm>
            <a:off x="777240" y="4818888"/>
            <a:ext cx="10607040" cy="365760"/>
          </a:xfrm>
          <a:prstGeom prst="rect">
            <a:avLst/>
          </a:prstGeom>
          <a:noFill/>
          <a:ln/>
        </p:spPr>
        <p:txBody>
          <a:bodyPr wrap="square" lIns="0" tIns="0" rIns="0" bIns="0" rtlCol="0" anchor="ctr"/>
          <a:lstStyle/>
          <a:p>
            <a:pPr indent="0" marL="0">
              <a:buNone/>
            </a:pPr>
            <a:r>
              <a:rPr lang="en-US" sz="2200" b="1" dirty="0">
                <a:solidFill>
                  <a:srgbClr val="1A2332"/>
                </a:solidFill>
                <a:latin typeface="IBM Plex Sans" pitchFamily="34" charset="0"/>
                <a:ea typeface="IBM Plex Sans" pitchFamily="34" charset="-122"/>
                <a:cs typeface="IBM Plex Sans" pitchFamily="34" charset="-120"/>
              </a:rPr>
              <a:t>See the published layout</a:t>
            </a:r>
            <a:endParaRPr lang="en-US" sz="2200" dirty="0"/>
          </a:p>
        </p:txBody>
      </p:sp>
      <p:sp>
        <p:nvSpPr>
          <p:cNvPr id="16" name="Text 14"/>
          <p:cNvSpPr/>
          <p:nvPr/>
        </p:nvSpPr>
        <p:spPr>
          <a:xfrm>
            <a:off x="777240" y="5221224"/>
            <a:ext cx="10607040" cy="320040"/>
          </a:xfrm>
          <a:prstGeom prst="rect">
            <a:avLst/>
          </a:prstGeom>
          <a:noFill/>
          <a:ln/>
        </p:spPr>
        <p:txBody>
          <a:bodyPr wrap="square" lIns="0" tIns="0" rIns="0" bIns="0" rtlCol="0" anchor="ctr"/>
          <a:lstStyle/>
          <a:p>
            <a:pPr indent="0" marL="0">
              <a:buNone/>
            </a:pPr>
            <a:r>
              <a:rPr lang="en-US" sz="1600" dirty="0">
                <a:solidFill>
                  <a:srgbClr val="5A6A7E"/>
                </a:solidFill>
                <a:latin typeface="IBM Plex Sans" pitchFamily="34" charset="0"/>
                <a:ea typeface="IBM Plex Sans" pitchFamily="34" charset="-122"/>
                <a:cs typeface="IBM Plex Sans" pitchFamily="34" charset="-120"/>
              </a:rPr>
              <a:t>The catalog receives it after the load.</a:t>
            </a:r>
            <a:endParaRPr lang="en-US" sz="1600" dirty="0"/>
          </a:p>
        </p:txBody>
      </p:sp>
      <p:sp>
        <p:nvSpPr>
          <p:cNvPr id="17" name="Text 15"/>
          <p:cNvSpPr/>
          <p:nvPr/>
        </p:nvSpPr>
        <p:spPr>
          <a:xfrm>
            <a:off x="502920" y="6473952"/>
            <a:ext cx="6400800" cy="237744"/>
          </a:xfrm>
          <a:prstGeom prst="rect">
            <a:avLst/>
          </a:prstGeom>
          <a:noFill/>
          <a:ln/>
        </p:spPr>
        <p:txBody>
          <a:bodyPr wrap="square" lIns="0" tIns="0" rIns="0" bIns="0" rtlCol="0" anchor="ctr"/>
          <a:lstStyle/>
          <a:p>
            <a:pPr indent="0" marL="0">
              <a:buNone/>
            </a:pPr>
            <a:r>
              <a:rPr lang="en-US" sz="1200" dirty="0">
                <a:solidFill>
                  <a:srgbClr val="5A6A7E"/>
                </a:solidFill>
                <a:latin typeface="IBM Plex Sans" pitchFamily="34" charset="0"/>
                <a:ea typeface="IBM Plex Sans" pitchFamily="34" charset="-122"/>
                <a:cs typeface="IBM Plex Sans" pitchFamily="34" charset="-120"/>
              </a:rPr>
              <a:t>Full-stack transparency</a:t>
            </a:r>
            <a:endParaRPr lang="en-US" sz="1200" dirty="0"/>
          </a:p>
        </p:txBody>
      </p:sp>
      <p:sp>
        <p:nvSpPr>
          <p:cNvPr id="18" name="Text 16"/>
          <p:cNvSpPr/>
          <p:nvPr/>
        </p:nvSpPr>
        <p:spPr>
          <a:xfrm>
            <a:off x="10515600" y="6473952"/>
            <a:ext cx="1170432" cy="237744"/>
          </a:xfrm>
          <a:prstGeom prst="rect">
            <a:avLst/>
          </a:prstGeom>
          <a:noFill/>
          <a:ln/>
        </p:spPr>
        <p:txBody>
          <a:bodyPr wrap="square" lIns="0" tIns="0" rIns="0" bIns="0" rtlCol="0" anchor="ctr"/>
          <a:lstStyle/>
          <a:p>
            <a:pPr algn="r" indent="0" marL="0">
              <a:buNone/>
            </a:pPr>
            <a:r>
              <a:rPr lang="en-US" sz="1200" dirty="0">
                <a:solidFill>
                  <a:srgbClr val="5A6A7E"/>
                </a:solidFill>
                <a:latin typeface="IBM Plex Mono" pitchFamily="34" charset="0"/>
                <a:ea typeface="IBM Plex Mono" pitchFamily="34" charset="-122"/>
                <a:cs typeface="IBM Plex Mono"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11155680" cy="256032"/>
          </a:xfrm>
          <a:prstGeom prst="rect">
            <a:avLst/>
          </a:prstGeom>
          <a:noFill/>
          <a:ln/>
        </p:spPr>
        <p:txBody>
          <a:bodyPr wrap="square" lIns="0" tIns="0" rIns="0" bIns="0" rtlCol="0" anchor="ctr"/>
          <a:lstStyle/>
          <a:p>
            <a:pPr indent="0" marL="0">
              <a:buNone/>
            </a:pPr>
            <a:r>
              <a:rPr lang="en-US" sz="1200" spc="120" kern="0" dirty="0">
                <a:solidFill>
                  <a:srgbClr val="C47A12"/>
                </a:solidFill>
                <a:latin typeface="IBM Plex Mono" pitchFamily="34" charset="0"/>
                <a:ea typeface="IBM Plex Mono" pitchFamily="34" charset="-122"/>
                <a:cs typeface="IBM Plex Mono" pitchFamily="34" charset="-120"/>
              </a:rPr>
              <a:t>CHANGING ECOSYSTEM</a:t>
            </a:r>
            <a:endParaRPr lang="en-US" sz="1200" dirty="0"/>
          </a:p>
        </p:txBody>
      </p:sp>
      <p:sp>
        <p:nvSpPr>
          <p:cNvPr id="3" name="Text 1"/>
          <p:cNvSpPr/>
          <p:nvPr/>
        </p:nvSpPr>
        <p:spPr>
          <a:xfrm>
            <a:off x="502920" y="1554480"/>
            <a:ext cx="11155680" cy="2011680"/>
          </a:xfrm>
          <a:prstGeom prst="rect">
            <a:avLst/>
          </a:prstGeom>
          <a:noFill/>
          <a:ln/>
        </p:spPr>
        <p:txBody>
          <a:bodyPr wrap="square" lIns="0" tIns="0" rIns="0" bIns="0" rtlCol="0" anchor="ctr"/>
          <a:lstStyle/>
          <a:p>
            <a:pPr indent="0" marL="0">
              <a:buNone/>
            </a:pPr>
            <a:r>
              <a:rPr lang="en-US" sz="3600" b="1" dirty="0">
                <a:solidFill>
                  <a:srgbClr val="1A2332"/>
                </a:solidFill>
                <a:latin typeface="IBM Plex Sans" pitchFamily="34" charset="0"/>
                <a:ea typeface="IBM Plex Sans" pitchFamily="34" charset="-122"/>
                <a:cs typeface="IBM Plex Sans" pitchFamily="34" charset="-120"/>
              </a:rPr>
              <a:t>How do you notice without</a:t>
            </a:r>
            <a:endParaRPr lang="en-US" sz="3600" dirty="0"/>
          </a:p>
          <a:p>
            <a:pPr indent="0" marL="0">
              <a:buNone/>
            </a:pPr>
            <a:r>
              <a:rPr lang="en-US" sz="3600" b="1" dirty="0">
                <a:solidFill>
                  <a:srgbClr val="1A2332"/>
                </a:solidFill>
                <a:latin typeface="IBM Plex Sans" pitchFamily="34" charset="0"/>
                <a:ea typeface="IBM Plex Sans" pitchFamily="34" charset="-122"/>
                <a:cs typeface="IBM Plex Sans" pitchFamily="34" charset="-120"/>
              </a:rPr>
              <a:t>silently rewriting the contract?</a:t>
            </a:r>
            <a:endParaRPr lang="en-US" sz="3600" dirty="0"/>
          </a:p>
        </p:txBody>
      </p:sp>
      <p:sp>
        <p:nvSpPr>
          <p:cNvPr id="4" name="Text 2"/>
          <p:cNvSpPr/>
          <p:nvPr/>
        </p:nvSpPr>
        <p:spPr>
          <a:xfrm>
            <a:off x="502920" y="3931920"/>
            <a:ext cx="10058400" cy="548640"/>
          </a:xfrm>
          <a:prstGeom prst="rect">
            <a:avLst/>
          </a:prstGeom>
          <a:noFill/>
          <a:ln/>
        </p:spPr>
        <p:txBody>
          <a:bodyPr wrap="square" lIns="0" tIns="0" rIns="0" bIns="0" rtlCol="0" anchor="ctr"/>
          <a:lstStyle/>
          <a:p>
            <a:pPr indent="0" marL="0">
              <a:buNone/>
            </a:pPr>
            <a:r>
              <a:rPr lang="en-US" sz="2000" dirty="0">
                <a:solidFill>
                  <a:srgbClr val="5A6A7E"/>
                </a:solidFill>
                <a:latin typeface="IBM Plex Sans" pitchFamily="34" charset="0"/>
                <a:ea typeface="IBM Plex Sans" pitchFamily="34" charset="-122"/>
                <a:cs typeface="IBM Plex Sans" pitchFamily="34" charset="-120"/>
              </a:rPr>
              <a:t>Sources keep changing. Downstream objects already depend on them.</a:t>
            </a:r>
            <a:endParaRPr lang="en-US" sz="2000" dirty="0"/>
          </a:p>
        </p:txBody>
      </p:sp>
      <p:sp>
        <p:nvSpPr>
          <p:cNvPr id="5" name="Text 3"/>
          <p:cNvSpPr/>
          <p:nvPr/>
        </p:nvSpPr>
        <p:spPr>
          <a:xfrm>
            <a:off x="502920" y="6473952"/>
            <a:ext cx="6400800" cy="237744"/>
          </a:xfrm>
          <a:prstGeom prst="rect">
            <a:avLst/>
          </a:prstGeom>
          <a:noFill/>
          <a:ln/>
        </p:spPr>
        <p:txBody>
          <a:bodyPr wrap="square" lIns="0" tIns="0" rIns="0" bIns="0" rtlCol="0" anchor="ctr"/>
          <a:lstStyle/>
          <a:p>
            <a:pPr indent="0" marL="0">
              <a:buNone/>
            </a:pPr>
            <a:r>
              <a:rPr lang="en-US" sz="1200" dirty="0">
                <a:solidFill>
                  <a:srgbClr val="5A6A7E"/>
                </a:solidFill>
                <a:latin typeface="IBM Plex Sans" pitchFamily="34" charset="0"/>
                <a:ea typeface="IBM Plex Sans" pitchFamily="34" charset="-122"/>
                <a:cs typeface="IBM Plex Sans" pitchFamily="34" charset="-120"/>
              </a:rPr>
              <a:t>Full-stack transparency</a:t>
            </a:r>
            <a:endParaRPr lang="en-US" sz="1200" dirty="0"/>
          </a:p>
        </p:txBody>
      </p:sp>
      <p:sp>
        <p:nvSpPr>
          <p:cNvPr id="6" name="Text 4"/>
          <p:cNvSpPr/>
          <p:nvPr/>
        </p:nvSpPr>
        <p:spPr>
          <a:xfrm>
            <a:off x="10515600" y="6473952"/>
            <a:ext cx="1170432" cy="237744"/>
          </a:xfrm>
          <a:prstGeom prst="rect">
            <a:avLst/>
          </a:prstGeom>
          <a:noFill/>
          <a:ln/>
        </p:spPr>
        <p:txBody>
          <a:bodyPr wrap="square" lIns="0" tIns="0" rIns="0" bIns="0" rtlCol="0" anchor="ctr"/>
          <a:lstStyle/>
          <a:p>
            <a:pPr algn="r" indent="0" marL="0">
              <a:buNone/>
            </a:pPr>
            <a:r>
              <a:rPr lang="en-US" sz="1200" dirty="0">
                <a:solidFill>
                  <a:srgbClr val="5A6A7E"/>
                </a:solidFill>
                <a:latin typeface="IBM Plex Mono" pitchFamily="34" charset="0"/>
                <a:ea typeface="IBM Plex Mono" pitchFamily="34" charset="-122"/>
                <a:cs typeface="IBM Plex Mono"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11155680" cy="256032"/>
          </a:xfrm>
          <a:prstGeom prst="rect">
            <a:avLst/>
          </a:prstGeom>
          <a:noFill/>
          <a:ln/>
        </p:spPr>
        <p:txBody>
          <a:bodyPr wrap="square" lIns="0" tIns="0" rIns="0" bIns="0" rtlCol="0" anchor="ctr"/>
          <a:lstStyle/>
          <a:p>
            <a:pPr indent="0" marL="0">
              <a:buNone/>
            </a:pPr>
            <a:r>
              <a:rPr lang="en-US" sz="1200" spc="120" kern="0" dirty="0">
                <a:solidFill>
                  <a:srgbClr val="0D6E8C"/>
                </a:solidFill>
                <a:latin typeface="IBM Plex Mono" pitchFamily="34" charset="0"/>
                <a:ea typeface="IBM Plex Mono" pitchFamily="34" charset="-122"/>
                <a:cs typeface="IBM Plex Mono" pitchFamily="34" charset="-120"/>
              </a:rPr>
              <a:t>FOUR JOBS</a:t>
            </a:r>
            <a:endParaRPr lang="en-US" sz="1200" dirty="0"/>
          </a:p>
        </p:txBody>
      </p:sp>
      <p:sp>
        <p:nvSpPr>
          <p:cNvPr id="3" name="Text 1"/>
          <p:cNvSpPr/>
          <p:nvPr/>
        </p:nvSpPr>
        <p:spPr>
          <a:xfrm>
            <a:off x="502920" y="658368"/>
            <a:ext cx="11155680" cy="502920"/>
          </a:xfrm>
          <a:prstGeom prst="rect">
            <a:avLst/>
          </a:prstGeom>
          <a:noFill/>
          <a:ln/>
        </p:spPr>
        <p:txBody>
          <a:bodyPr wrap="square" lIns="0" tIns="0" rIns="0" bIns="0" rtlCol="0" anchor="ctr"/>
          <a:lstStyle/>
          <a:p>
            <a:pPr indent="0" marL="0">
              <a:buNone/>
            </a:pPr>
            <a:r>
              <a:rPr lang="en-US" sz="3200" b="1" dirty="0">
                <a:solidFill>
                  <a:srgbClr val="1A2332"/>
                </a:solidFill>
                <a:latin typeface="IBM Plex Sans" pitchFamily="34" charset="0"/>
                <a:ea typeface="IBM Plex Sans" pitchFamily="34" charset="-122"/>
                <a:cs typeface="IBM Plex Sans" pitchFamily="34" charset="-120"/>
              </a:rPr>
              <a:t>Three different acts</a:t>
            </a:r>
            <a:endParaRPr lang="en-US" sz="3200" dirty="0"/>
          </a:p>
        </p:txBody>
      </p:sp>
      <p:sp>
        <p:nvSpPr>
          <p:cNvPr id="4" name="Shape 2"/>
          <p:cNvSpPr/>
          <p:nvPr/>
        </p:nvSpPr>
        <p:spPr>
          <a:xfrm>
            <a:off x="502920" y="1554480"/>
            <a:ext cx="2697480" cy="3063240"/>
          </a:xfrm>
          <a:prstGeom prst="rect">
            <a:avLst/>
          </a:prstGeom>
          <a:solidFill>
            <a:srgbClr val="E6F4F8"/>
          </a:solidFill>
          <a:ln w="12700">
            <a:solidFill>
              <a:srgbClr val="E6F4F8"/>
            </a:solidFill>
            <a:prstDash val="solid"/>
          </a:ln>
        </p:spPr>
      </p:sp>
      <p:sp>
        <p:nvSpPr>
          <p:cNvPr id="5" name="Shape 3"/>
          <p:cNvSpPr/>
          <p:nvPr/>
        </p:nvSpPr>
        <p:spPr>
          <a:xfrm>
            <a:off x="502920" y="1554480"/>
            <a:ext cx="2697480" cy="73152"/>
          </a:xfrm>
          <a:prstGeom prst="rect">
            <a:avLst/>
          </a:prstGeom>
          <a:solidFill>
            <a:srgbClr val="0D6E8C"/>
          </a:solidFill>
          <a:ln w="12700">
            <a:solidFill>
              <a:srgbClr val="0D6E8C"/>
            </a:solidFill>
            <a:prstDash val="solid"/>
          </a:ln>
        </p:spPr>
      </p:sp>
      <p:sp>
        <p:nvSpPr>
          <p:cNvPr id="6" name="Text 4"/>
          <p:cNvSpPr/>
          <p:nvPr/>
        </p:nvSpPr>
        <p:spPr>
          <a:xfrm>
            <a:off x="685800" y="1828800"/>
            <a:ext cx="2331720" cy="365760"/>
          </a:xfrm>
          <a:prstGeom prst="rect">
            <a:avLst/>
          </a:prstGeom>
          <a:noFill/>
          <a:ln/>
        </p:spPr>
        <p:txBody>
          <a:bodyPr wrap="square" lIns="0" tIns="0" rIns="0" bIns="0" rtlCol="0" anchor="ctr"/>
          <a:lstStyle/>
          <a:p>
            <a:pPr indent="0" marL="0">
              <a:buNone/>
            </a:pPr>
            <a:r>
              <a:rPr lang="en-US" sz="1600" dirty="0">
                <a:solidFill>
                  <a:srgbClr val="5A6A7E"/>
                </a:solidFill>
                <a:latin typeface="IBM Plex Sans" pitchFamily="34" charset="0"/>
                <a:ea typeface="IBM Plex Sans" pitchFamily="34" charset="-122"/>
                <a:cs typeface="IBM Plex Sans" pitchFamily="34" charset="-120"/>
              </a:rPr>
              <a:t>Harvest</a:t>
            </a:r>
            <a:endParaRPr lang="en-US" sz="1600" dirty="0"/>
          </a:p>
        </p:txBody>
      </p:sp>
      <p:sp>
        <p:nvSpPr>
          <p:cNvPr id="7" name="Text 5"/>
          <p:cNvSpPr/>
          <p:nvPr/>
        </p:nvSpPr>
        <p:spPr>
          <a:xfrm>
            <a:off x="685800" y="2286000"/>
            <a:ext cx="2331720" cy="548640"/>
          </a:xfrm>
          <a:prstGeom prst="rect">
            <a:avLst/>
          </a:prstGeom>
          <a:noFill/>
          <a:ln/>
        </p:spPr>
        <p:txBody>
          <a:bodyPr wrap="square" lIns="0" tIns="0" rIns="0" bIns="0" rtlCol="0" anchor="ctr"/>
          <a:lstStyle/>
          <a:p>
            <a:pPr indent="0" marL="0">
              <a:buNone/>
            </a:pPr>
            <a:r>
              <a:rPr lang="en-US" sz="2800" b="1" dirty="0">
                <a:solidFill>
                  <a:srgbClr val="1A2332"/>
                </a:solidFill>
                <a:latin typeface="IBM Plex Sans" pitchFamily="34" charset="0"/>
                <a:ea typeface="IBM Plex Sans" pitchFamily="34" charset="-122"/>
                <a:cs typeface="IBM Plex Sans" pitchFamily="34" charset="-120"/>
              </a:rPr>
              <a:t>Observe</a:t>
            </a:r>
            <a:endParaRPr lang="en-US" sz="2800" dirty="0"/>
          </a:p>
        </p:txBody>
      </p:sp>
      <p:sp>
        <p:nvSpPr>
          <p:cNvPr id="8" name="Text 6"/>
          <p:cNvSpPr/>
          <p:nvPr/>
        </p:nvSpPr>
        <p:spPr>
          <a:xfrm>
            <a:off x="685800" y="3063240"/>
            <a:ext cx="2331720" cy="1188720"/>
          </a:xfrm>
          <a:prstGeom prst="rect">
            <a:avLst/>
          </a:prstGeom>
          <a:noFill/>
          <a:ln/>
        </p:spPr>
        <p:txBody>
          <a:bodyPr wrap="square" lIns="0" tIns="0" rIns="0" bIns="0" rtlCol="0" anchor="ctr"/>
          <a:lstStyle/>
          <a:p>
            <a:pPr indent="0" marL="0">
              <a:buNone/>
            </a:pPr>
            <a:r>
              <a:rPr lang="en-US" sz="1600" dirty="0">
                <a:solidFill>
                  <a:srgbClr val="1A2332"/>
                </a:solidFill>
                <a:latin typeface="IBM Plex Sans" pitchFamily="34" charset="0"/>
                <a:ea typeface="IBM Plex Sans" pitchFamily="34" charset="-122"/>
                <a:cs typeface="IBM Plex Sans" pitchFamily="34" charset="-120"/>
              </a:rPr>
              <a:t>History of the live source. The contract stays put.</a:t>
            </a:r>
            <a:endParaRPr lang="en-US" sz="1600" dirty="0"/>
          </a:p>
        </p:txBody>
      </p:sp>
      <p:sp>
        <p:nvSpPr>
          <p:cNvPr id="9" name="Shape 7"/>
          <p:cNvSpPr/>
          <p:nvPr/>
        </p:nvSpPr>
        <p:spPr>
          <a:xfrm>
            <a:off x="3364992" y="1554480"/>
            <a:ext cx="2697480" cy="3063240"/>
          </a:xfrm>
          <a:prstGeom prst="rect">
            <a:avLst/>
          </a:prstGeom>
          <a:solidFill>
            <a:srgbClr val="FFF3DF"/>
          </a:solidFill>
          <a:ln w="12700">
            <a:solidFill>
              <a:srgbClr val="FFF3DF"/>
            </a:solidFill>
            <a:prstDash val="solid"/>
          </a:ln>
        </p:spPr>
      </p:sp>
      <p:sp>
        <p:nvSpPr>
          <p:cNvPr id="10" name="Shape 8"/>
          <p:cNvSpPr/>
          <p:nvPr/>
        </p:nvSpPr>
        <p:spPr>
          <a:xfrm>
            <a:off x="3364992" y="1554480"/>
            <a:ext cx="2697480" cy="73152"/>
          </a:xfrm>
          <a:prstGeom prst="rect">
            <a:avLst/>
          </a:prstGeom>
          <a:solidFill>
            <a:srgbClr val="9A5B00"/>
          </a:solidFill>
          <a:ln w="12700">
            <a:solidFill>
              <a:srgbClr val="9A5B00"/>
            </a:solidFill>
            <a:prstDash val="solid"/>
          </a:ln>
        </p:spPr>
      </p:sp>
      <p:sp>
        <p:nvSpPr>
          <p:cNvPr id="11" name="Text 9"/>
          <p:cNvSpPr/>
          <p:nvPr/>
        </p:nvSpPr>
        <p:spPr>
          <a:xfrm>
            <a:off x="3547872" y="1828800"/>
            <a:ext cx="2331720" cy="365760"/>
          </a:xfrm>
          <a:prstGeom prst="rect">
            <a:avLst/>
          </a:prstGeom>
          <a:noFill/>
          <a:ln/>
        </p:spPr>
        <p:txBody>
          <a:bodyPr wrap="square" lIns="0" tIns="0" rIns="0" bIns="0" rtlCol="0" anchor="ctr"/>
          <a:lstStyle/>
          <a:p>
            <a:pPr indent="0" marL="0">
              <a:buNone/>
            </a:pPr>
            <a:r>
              <a:rPr lang="en-US" sz="1600" dirty="0">
                <a:solidFill>
                  <a:srgbClr val="5A6A7E"/>
                </a:solidFill>
                <a:latin typeface="IBM Plex Sans" pitchFamily="34" charset="0"/>
                <a:ea typeface="IBM Plex Sans" pitchFamily="34" charset="-122"/>
                <a:cs typeface="IBM Plex Sans" pitchFamily="34" charset="-120"/>
              </a:rPr>
              <a:t>Schema gate</a:t>
            </a:r>
            <a:endParaRPr lang="en-US" sz="1600" dirty="0"/>
          </a:p>
        </p:txBody>
      </p:sp>
      <p:sp>
        <p:nvSpPr>
          <p:cNvPr id="12" name="Text 10"/>
          <p:cNvSpPr/>
          <p:nvPr/>
        </p:nvSpPr>
        <p:spPr>
          <a:xfrm>
            <a:off x="3547872" y="2286000"/>
            <a:ext cx="2331720" cy="548640"/>
          </a:xfrm>
          <a:prstGeom prst="rect">
            <a:avLst/>
          </a:prstGeom>
          <a:noFill/>
          <a:ln/>
        </p:spPr>
        <p:txBody>
          <a:bodyPr wrap="square" lIns="0" tIns="0" rIns="0" bIns="0" rtlCol="0" anchor="ctr"/>
          <a:lstStyle/>
          <a:p>
            <a:pPr indent="0" marL="0">
              <a:buNone/>
            </a:pPr>
            <a:r>
              <a:rPr lang="en-US" sz="2800" b="1" dirty="0">
                <a:solidFill>
                  <a:srgbClr val="1A2332"/>
                </a:solidFill>
                <a:latin typeface="IBM Plex Sans" pitchFamily="34" charset="0"/>
                <a:ea typeface="IBM Plex Sans" pitchFamily="34" charset="-122"/>
                <a:cs typeface="IBM Plex Sans" pitchFamily="34" charset="-120"/>
              </a:rPr>
              <a:t>Decide</a:t>
            </a:r>
            <a:endParaRPr lang="en-US" sz="2800" dirty="0"/>
          </a:p>
        </p:txBody>
      </p:sp>
      <p:sp>
        <p:nvSpPr>
          <p:cNvPr id="13" name="Text 11"/>
          <p:cNvSpPr/>
          <p:nvPr/>
        </p:nvSpPr>
        <p:spPr>
          <a:xfrm>
            <a:off x="3547872" y="3063240"/>
            <a:ext cx="2331720" cy="1188720"/>
          </a:xfrm>
          <a:prstGeom prst="rect">
            <a:avLst/>
          </a:prstGeom>
          <a:noFill/>
          <a:ln/>
        </p:spPr>
        <p:txBody>
          <a:bodyPr wrap="square" lIns="0" tIns="0" rIns="0" bIns="0" rtlCol="0" anchor="ctr"/>
          <a:lstStyle/>
          <a:p>
            <a:pPr indent="0" marL="0">
              <a:buNone/>
            </a:pPr>
            <a:r>
              <a:rPr lang="en-US" sz="1600" dirty="0">
                <a:solidFill>
                  <a:srgbClr val="1A2332"/>
                </a:solidFill>
                <a:latin typeface="IBM Plex Sans" pitchFamily="34" charset="0"/>
                <a:ea typeface="IBM Plex Sans" pitchFamily="34" charset="-122"/>
                <a:cs typeface="IBM Plex Sans" pitchFamily="34" charset="-120"/>
              </a:rPr>
              <a:t>May this wave load?</a:t>
            </a:r>
            <a:endParaRPr lang="en-US" sz="1600" dirty="0"/>
          </a:p>
        </p:txBody>
      </p:sp>
      <p:sp>
        <p:nvSpPr>
          <p:cNvPr id="14" name="Shape 12"/>
          <p:cNvSpPr/>
          <p:nvPr/>
        </p:nvSpPr>
        <p:spPr>
          <a:xfrm>
            <a:off x="6227064" y="1554480"/>
            <a:ext cx="2697480" cy="3063240"/>
          </a:xfrm>
          <a:prstGeom prst="rect">
            <a:avLst/>
          </a:prstGeom>
          <a:solidFill>
            <a:srgbClr val="FFF3DF"/>
          </a:solidFill>
          <a:ln w="12700">
            <a:solidFill>
              <a:srgbClr val="FFF3DF"/>
            </a:solidFill>
            <a:prstDash val="solid"/>
          </a:ln>
        </p:spPr>
      </p:sp>
      <p:sp>
        <p:nvSpPr>
          <p:cNvPr id="15" name="Shape 13"/>
          <p:cNvSpPr/>
          <p:nvPr/>
        </p:nvSpPr>
        <p:spPr>
          <a:xfrm>
            <a:off x="6227064" y="1554480"/>
            <a:ext cx="2697480" cy="73152"/>
          </a:xfrm>
          <a:prstGeom prst="rect">
            <a:avLst/>
          </a:prstGeom>
          <a:solidFill>
            <a:srgbClr val="9A5B00"/>
          </a:solidFill>
          <a:ln w="12700">
            <a:solidFill>
              <a:srgbClr val="9A5B00"/>
            </a:solidFill>
            <a:prstDash val="solid"/>
          </a:ln>
        </p:spPr>
      </p:sp>
      <p:sp>
        <p:nvSpPr>
          <p:cNvPr id="16" name="Text 14"/>
          <p:cNvSpPr/>
          <p:nvPr/>
        </p:nvSpPr>
        <p:spPr>
          <a:xfrm>
            <a:off x="6409944" y="1828800"/>
            <a:ext cx="2331720" cy="365760"/>
          </a:xfrm>
          <a:prstGeom prst="rect">
            <a:avLst/>
          </a:prstGeom>
          <a:noFill/>
          <a:ln/>
        </p:spPr>
        <p:txBody>
          <a:bodyPr wrap="square" lIns="0" tIns="0" rIns="0" bIns="0" rtlCol="0" anchor="ctr"/>
          <a:lstStyle/>
          <a:p>
            <a:pPr indent="0" marL="0">
              <a:buNone/>
            </a:pPr>
            <a:r>
              <a:rPr lang="en-US" sz="1600" dirty="0">
                <a:solidFill>
                  <a:srgbClr val="5A6A7E"/>
                </a:solidFill>
                <a:latin typeface="IBM Plex Sans" pitchFamily="34" charset="0"/>
                <a:ea typeface="IBM Plex Sans" pitchFamily="34" charset="-122"/>
                <a:cs typeface="IBM Plex Sans" pitchFamily="34" charset="-120"/>
              </a:rPr>
              <a:t>Quality gate</a:t>
            </a:r>
            <a:endParaRPr lang="en-US" sz="1600" dirty="0"/>
          </a:p>
        </p:txBody>
      </p:sp>
      <p:sp>
        <p:nvSpPr>
          <p:cNvPr id="17" name="Text 15"/>
          <p:cNvSpPr/>
          <p:nvPr/>
        </p:nvSpPr>
        <p:spPr>
          <a:xfrm>
            <a:off x="6409944" y="2286000"/>
            <a:ext cx="2331720" cy="548640"/>
          </a:xfrm>
          <a:prstGeom prst="rect">
            <a:avLst/>
          </a:prstGeom>
          <a:noFill/>
          <a:ln/>
        </p:spPr>
        <p:txBody>
          <a:bodyPr wrap="square" lIns="0" tIns="0" rIns="0" bIns="0" rtlCol="0" anchor="ctr"/>
          <a:lstStyle/>
          <a:p>
            <a:pPr indent="0" marL="0">
              <a:buNone/>
            </a:pPr>
            <a:r>
              <a:rPr lang="en-US" sz="2800" b="1" dirty="0">
                <a:solidFill>
                  <a:srgbClr val="1A2332"/>
                </a:solidFill>
                <a:latin typeface="IBM Plex Sans" pitchFamily="34" charset="0"/>
                <a:ea typeface="IBM Plex Sans" pitchFamily="34" charset="-122"/>
                <a:cs typeface="IBM Plex Sans" pitchFamily="34" charset="-120"/>
              </a:rPr>
              <a:t>Decide</a:t>
            </a:r>
            <a:endParaRPr lang="en-US" sz="2800" dirty="0"/>
          </a:p>
        </p:txBody>
      </p:sp>
      <p:sp>
        <p:nvSpPr>
          <p:cNvPr id="18" name="Text 16"/>
          <p:cNvSpPr/>
          <p:nvPr/>
        </p:nvSpPr>
        <p:spPr>
          <a:xfrm>
            <a:off x="6409944" y="3063240"/>
            <a:ext cx="2331720" cy="1188720"/>
          </a:xfrm>
          <a:prstGeom prst="rect">
            <a:avLst/>
          </a:prstGeom>
          <a:noFill/>
          <a:ln/>
        </p:spPr>
        <p:txBody>
          <a:bodyPr wrap="square" lIns="0" tIns="0" rIns="0" bIns="0" rtlCol="0" anchor="ctr"/>
          <a:lstStyle/>
          <a:p>
            <a:pPr indent="0" marL="0">
              <a:buNone/>
            </a:pPr>
            <a:r>
              <a:rPr lang="en-US" sz="1600" dirty="0">
                <a:solidFill>
                  <a:srgbClr val="1A2332"/>
                </a:solidFill>
                <a:latin typeface="IBM Plex Sans" pitchFamily="34" charset="0"/>
                <a:ea typeface="IBM Plex Sans" pitchFamily="34" charset="-122"/>
                <a:cs typeface="IBM Plex Sans" pitchFamily="34" charset="-120"/>
              </a:rPr>
              <a:t>Are the rows acceptable?</a:t>
            </a:r>
            <a:endParaRPr lang="en-US" sz="1600" dirty="0"/>
          </a:p>
        </p:txBody>
      </p:sp>
      <p:sp>
        <p:nvSpPr>
          <p:cNvPr id="19" name="Shape 17"/>
          <p:cNvSpPr/>
          <p:nvPr/>
        </p:nvSpPr>
        <p:spPr>
          <a:xfrm>
            <a:off x="9089136" y="1554480"/>
            <a:ext cx="2697480" cy="3063240"/>
          </a:xfrm>
          <a:prstGeom prst="rect">
            <a:avLst/>
          </a:prstGeom>
          <a:solidFill>
            <a:srgbClr val="E7F6ED"/>
          </a:solidFill>
          <a:ln w="12700">
            <a:solidFill>
              <a:srgbClr val="E7F6ED"/>
            </a:solidFill>
            <a:prstDash val="solid"/>
          </a:ln>
        </p:spPr>
      </p:sp>
      <p:sp>
        <p:nvSpPr>
          <p:cNvPr id="20" name="Shape 18"/>
          <p:cNvSpPr/>
          <p:nvPr/>
        </p:nvSpPr>
        <p:spPr>
          <a:xfrm>
            <a:off x="9089136" y="1554480"/>
            <a:ext cx="2697480" cy="73152"/>
          </a:xfrm>
          <a:prstGeom prst="rect">
            <a:avLst/>
          </a:prstGeom>
          <a:solidFill>
            <a:srgbClr val="1E7A46"/>
          </a:solidFill>
          <a:ln w="12700">
            <a:solidFill>
              <a:srgbClr val="1E7A46"/>
            </a:solidFill>
            <a:prstDash val="solid"/>
          </a:ln>
        </p:spPr>
      </p:sp>
      <p:sp>
        <p:nvSpPr>
          <p:cNvPr id="21" name="Text 19"/>
          <p:cNvSpPr/>
          <p:nvPr/>
        </p:nvSpPr>
        <p:spPr>
          <a:xfrm>
            <a:off x="9272016" y="1828800"/>
            <a:ext cx="2331720" cy="365760"/>
          </a:xfrm>
          <a:prstGeom prst="rect">
            <a:avLst/>
          </a:prstGeom>
          <a:noFill/>
          <a:ln/>
        </p:spPr>
        <p:txBody>
          <a:bodyPr wrap="square" lIns="0" tIns="0" rIns="0" bIns="0" rtlCol="0" anchor="ctr"/>
          <a:lstStyle/>
          <a:p>
            <a:pPr indent="0" marL="0">
              <a:buNone/>
            </a:pPr>
            <a:r>
              <a:rPr lang="en-US" sz="1600" dirty="0">
                <a:solidFill>
                  <a:srgbClr val="5A6A7E"/>
                </a:solidFill>
                <a:latin typeface="IBM Plex Sans" pitchFamily="34" charset="0"/>
                <a:ea typeface="IBM Plex Sans" pitchFamily="34" charset="-122"/>
                <a:cs typeface="IBM Plex Sans" pitchFamily="34" charset="-120"/>
              </a:rPr>
              <a:t>Update</a:t>
            </a:r>
            <a:endParaRPr lang="en-US" sz="1600" dirty="0"/>
          </a:p>
        </p:txBody>
      </p:sp>
      <p:sp>
        <p:nvSpPr>
          <p:cNvPr id="22" name="Text 20"/>
          <p:cNvSpPr/>
          <p:nvPr/>
        </p:nvSpPr>
        <p:spPr>
          <a:xfrm>
            <a:off x="9272016" y="2286000"/>
            <a:ext cx="2331720" cy="548640"/>
          </a:xfrm>
          <a:prstGeom prst="rect">
            <a:avLst/>
          </a:prstGeom>
          <a:noFill/>
          <a:ln/>
        </p:spPr>
        <p:txBody>
          <a:bodyPr wrap="square" lIns="0" tIns="0" rIns="0" bIns="0" rtlCol="0" anchor="ctr"/>
          <a:lstStyle/>
          <a:p>
            <a:pPr indent="0" marL="0">
              <a:buNone/>
            </a:pPr>
            <a:r>
              <a:rPr lang="en-US" sz="2800" b="1" dirty="0">
                <a:solidFill>
                  <a:srgbClr val="1A2332"/>
                </a:solidFill>
                <a:latin typeface="IBM Plex Sans" pitchFamily="34" charset="0"/>
                <a:ea typeface="IBM Plex Sans" pitchFamily="34" charset="-122"/>
                <a:cs typeface="IBM Plex Sans" pitchFamily="34" charset="-120"/>
              </a:rPr>
              <a:t>Load</a:t>
            </a:r>
            <a:endParaRPr lang="en-US" sz="2800" dirty="0"/>
          </a:p>
        </p:txBody>
      </p:sp>
      <p:sp>
        <p:nvSpPr>
          <p:cNvPr id="23" name="Text 21"/>
          <p:cNvSpPr/>
          <p:nvPr/>
        </p:nvSpPr>
        <p:spPr>
          <a:xfrm>
            <a:off x="9272016" y="3063240"/>
            <a:ext cx="2331720" cy="1188720"/>
          </a:xfrm>
          <a:prstGeom prst="rect">
            <a:avLst/>
          </a:prstGeom>
          <a:noFill/>
          <a:ln/>
        </p:spPr>
        <p:txBody>
          <a:bodyPr wrap="square" lIns="0" tIns="0" rIns="0" bIns="0" rtlCol="0" anchor="ctr"/>
          <a:lstStyle/>
          <a:p>
            <a:pPr indent="0" marL="0">
              <a:buNone/>
            </a:pPr>
            <a:r>
              <a:rPr lang="en-US" sz="1600" dirty="0">
                <a:solidFill>
                  <a:srgbClr val="1A2332"/>
                </a:solidFill>
                <a:latin typeface="IBM Plex Sans" pitchFamily="34" charset="0"/>
                <a:ea typeface="IBM Plex Sans" pitchFamily="34" charset="-122"/>
                <a:cs typeface="IBM Plex Sans" pitchFamily="34" charset="-120"/>
              </a:rPr>
              <a:t>Then publish the layout back.</a:t>
            </a:r>
            <a:endParaRPr lang="en-US" sz="1600" dirty="0"/>
          </a:p>
        </p:txBody>
      </p:sp>
      <p:sp>
        <p:nvSpPr>
          <p:cNvPr id="24" name="Text 22"/>
          <p:cNvSpPr/>
          <p:nvPr/>
        </p:nvSpPr>
        <p:spPr>
          <a:xfrm>
            <a:off x="502920" y="4892040"/>
            <a:ext cx="11155680" cy="457200"/>
          </a:xfrm>
          <a:prstGeom prst="rect">
            <a:avLst/>
          </a:prstGeom>
          <a:noFill/>
          <a:ln/>
        </p:spPr>
        <p:txBody>
          <a:bodyPr wrap="square" lIns="0" tIns="0" rIns="0" bIns="0" rtlCol="0" anchor="ctr"/>
          <a:lstStyle/>
          <a:p>
            <a:pPr indent="0" marL="0">
              <a:buNone/>
            </a:pPr>
            <a:r>
              <a:rPr lang="en-US" sz="2000" i="1" dirty="0">
                <a:solidFill>
                  <a:srgbClr val="1A2332"/>
                </a:solidFill>
                <a:latin typeface="IBM Plex Sans" pitchFamily="34" charset="0"/>
                <a:ea typeface="IBM Plex Sans" pitchFamily="34" charset="-122"/>
                <a:cs typeface="IBM Plex Sans" pitchFamily="34" charset="-120"/>
              </a:rPr>
              <a:t>A deliberate write is not a side effect of looking.</a:t>
            </a:r>
            <a:endParaRPr lang="en-US" sz="2000" dirty="0"/>
          </a:p>
        </p:txBody>
      </p:sp>
      <p:sp>
        <p:nvSpPr>
          <p:cNvPr id="25" name="Text 23"/>
          <p:cNvSpPr/>
          <p:nvPr/>
        </p:nvSpPr>
        <p:spPr>
          <a:xfrm>
            <a:off x="502920" y="6473952"/>
            <a:ext cx="6400800" cy="237744"/>
          </a:xfrm>
          <a:prstGeom prst="rect">
            <a:avLst/>
          </a:prstGeom>
          <a:noFill/>
          <a:ln/>
        </p:spPr>
        <p:txBody>
          <a:bodyPr wrap="square" lIns="0" tIns="0" rIns="0" bIns="0" rtlCol="0" anchor="ctr"/>
          <a:lstStyle/>
          <a:p>
            <a:pPr indent="0" marL="0">
              <a:buNone/>
            </a:pPr>
            <a:r>
              <a:rPr lang="en-US" sz="1200" dirty="0">
                <a:solidFill>
                  <a:srgbClr val="5A6A7E"/>
                </a:solidFill>
                <a:latin typeface="IBM Plex Sans" pitchFamily="34" charset="0"/>
                <a:ea typeface="IBM Plex Sans" pitchFamily="34" charset="-122"/>
                <a:cs typeface="IBM Plex Sans" pitchFamily="34" charset="-120"/>
              </a:rPr>
              <a:t>Full-stack transparency</a:t>
            </a:r>
            <a:endParaRPr lang="en-US" sz="1200" dirty="0"/>
          </a:p>
        </p:txBody>
      </p:sp>
      <p:sp>
        <p:nvSpPr>
          <p:cNvPr id="26" name="Text 24"/>
          <p:cNvSpPr/>
          <p:nvPr/>
        </p:nvSpPr>
        <p:spPr>
          <a:xfrm>
            <a:off x="10515600" y="6473952"/>
            <a:ext cx="1170432" cy="237744"/>
          </a:xfrm>
          <a:prstGeom prst="rect">
            <a:avLst/>
          </a:prstGeom>
          <a:noFill/>
          <a:ln/>
        </p:spPr>
        <p:txBody>
          <a:bodyPr wrap="square" lIns="0" tIns="0" rIns="0" bIns="0" rtlCol="0" anchor="ctr"/>
          <a:lstStyle/>
          <a:p>
            <a:pPr algn="r" indent="0" marL="0">
              <a:buNone/>
            </a:pPr>
            <a:r>
              <a:rPr lang="en-US" sz="1200" dirty="0">
                <a:solidFill>
                  <a:srgbClr val="5A6A7E"/>
                </a:solidFill>
                <a:latin typeface="IBM Plex Mono" pitchFamily="34" charset="0"/>
                <a:ea typeface="IBM Plex Mono" pitchFamily="34" charset="-122"/>
                <a:cs typeface="IBM Plex Mono"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11155680" cy="256032"/>
          </a:xfrm>
          <a:prstGeom prst="rect">
            <a:avLst/>
          </a:prstGeom>
          <a:noFill/>
          <a:ln/>
        </p:spPr>
        <p:txBody>
          <a:bodyPr wrap="square" lIns="0" tIns="0" rIns="0" bIns="0" rtlCol="0" anchor="ctr"/>
          <a:lstStyle/>
          <a:p>
            <a:pPr indent="0" marL="0">
              <a:buNone/>
            </a:pPr>
            <a:r>
              <a:rPr lang="en-US" sz="1200" spc="120" kern="0" dirty="0">
                <a:solidFill>
                  <a:srgbClr val="C47A12"/>
                </a:solidFill>
                <a:latin typeface="IBM Plex Mono" pitchFamily="34" charset="0"/>
                <a:ea typeface="IBM Plex Mono" pitchFamily="34" charset="-122"/>
                <a:cs typeface="IBM Plex Mono" pitchFamily="34" charset="-120"/>
              </a:rPr>
              <a:t>LACK OF FLEXIBILITY</a:t>
            </a:r>
            <a:endParaRPr lang="en-US" sz="1200" dirty="0"/>
          </a:p>
        </p:txBody>
      </p:sp>
      <p:sp>
        <p:nvSpPr>
          <p:cNvPr id="3" name="Text 1"/>
          <p:cNvSpPr/>
          <p:nvPr/>
        </p:nvSpPr>
        <p:spPr>
          <a:xfrm>
            <a:off x="502920" y="1417320"/>
            <a:ext cx="6766560" cy="2194560"/>
          </a:xfrm>
          <a:prstGeom prst="rect">
            <a:avLst/>
          </a:prstGeom>
          <a:noFill/>
          <a:ln/>
        </p:spPr>
        <p:txBody>
          <a:bodyPr wrap="square" lIns="0" tIns="0" rIns="0" bIns="0" rtlCol="0" anchor="ctr"/>
          <a:lstStyle/>
          <a:p>
            <a:pPr indent="0" marL="0">
              <a:buNone/>
            </a:pPr>
            <a:r>
              <a:rPr lang="en-US" sz="3200" b="1" dirty="0">
                <a:solidFill>
                  <a:srgbClr val="1A2332"/>
                </a:solidFill>
                <a:latin typeface="IBM Plex Sans" pitchFamily="34" charset="0"/>
                <a:ea typeface="IBM Plex Sans" pitchFamily="34" charset="-122"/>
                <a:cs typeface="IBM Plex Sans" pitchFamily="34" charset="-120"/>
              </a:rPr>
              <a:t>The day the source is a join,</a:t>
            </a:r>
            <a:endParaRPr lang="en-US" sz="3200" dirty="0"/>
          </a:p>
          <a:p>
            <a:pPr indent="0" marL="0">
              <a:buNone/>
            </a:pPr>
            <a:r>
              <a:rPr lang="en-US" sz="3200" b="1" dirty="0">
                <a:solidFill>
                  <a:srgbClr val="1A2332"/>
                </a:solidFill>
                <a:latin typeface="IBM Plex Sans" pitchFamily="34" charset="0"/>
                <a:ea typeface="IBM Plex Sans" pitchFamily="34" charset="-122"/>
                <a:cs typeface="IBM Plex Sans" pitchFamily="34" charset="-120"/>
              </a:rPr>
              <a:t>a document, or a file with no types.</a:t>
            </a:r>
            <a:endParaRPr lang="en-US" sz="3200" dirty="0"/>
          </a:p>
        </p:txBody>
      </p:sp>
      <p:sp>
        <p:nvSpPr>
          <p:cNvPr id="4" name="Shape 2"/>
          <p:cNvSpPr/>
          <p:nvPr/>
        </p:nvSpPr>
        <p:spPr>
          <a:xfrm>
            <a:off x="7589520" y="1554480"/>
            <a:ext cx="4069080" cy="2331720"/>
          </a:xfrm>
          <a:prstGeom prst="rect">
            <a:avLst/>
          </a:prstGeom>
          <a:solidFill>
            <a:srgbClr val="FFF6E8"/>
          </a:solidFill>
          <a:ln w="12700">
            <a:solidFill>
              <a:srgbClr val="FFF6E8"/>
            </a:solidFill>
            <a:prstDash val="solid"/>
          </a:ln>
        </p:spPr>
      </p:sp>
      <p:sp>
        <p:nvSpPr>
          <p:cNvPr id="5" name="Shape 3"/>
          <p:cNvSpPr/>
          <p:nvPr/>
        </p:nvSpPr>
        <p:spPr>
          <a:xfrm>
            <a:off x="7589520" y="1554480"/>
            <a:ext cx="4069080" cy="73152"/>
          </a:xfrm>
          <a:prstGeom prst="rect">
            <a:avLst/>
          </a:prstGeom>
          <a:solidFill>
            <a:srgbClr val="C47A12"/>
          </a:solidFill>
          <a:ln w="12700">
            <a:solidFill>
              <a:srgbClr val="C47A12"/>
            </a:solidFill>
            <a:prstDash val="solid"/>
          </a:ln>
        </p:spPr>
      </p:sp>
      <p:sp>
        <p:nvSpPr>
          <p:cNvPr id="6" name="Text 4"/>
          <p:cNvSpPr/>
          <p:nvPr/>
        </p:nvSpPr>
        <p:spPr>
          <a:xfrm>
            <a:off x="7818120" y="1874520"/>
            <a:ext cx="3611880" cy="1737360"/>
          </a:xfrm>
          <a:prstGeom prst="rect">
            <a:avLst/>
          </a:prstGeom>
          <a:noFill/>
          <a:ln/>
        </p:spPr>
        <p:txBody>
          <a:bodyPr wrap="square" lIns="0" tIns="0" rIns="0" bIns="0" rtlCol="0" anchor="ctr"/>
          <a:lstStyle/>
          <a:p>
            <a:pPr indent="0" marL="0">
              <a:buNone/>
            </a:pPr>
            <a:r>
              <a:rPr lang="en-US" sz="2200" dirty="0">
                <a:solidFill>
                  <a:srgbClr val="1A2332"/>
                </a:solidFill>
                <a:latin typeface="IBM Plex Sans" pitchFamily="34" charset="0"/>
                <a:ea typeface="IBM Plex Sans" pitchFamily="34" charset="-122"/>
                <a:cs typeface="IBM Plex Sans" pitchFamily="34" charset="-120"/>
              </a:rPr>
              <a:t>A side pipeline is how the object stops being owned.</a:t>
            </a:r>
            <a:endParaRPr lang="en-US" sz="2200" dirty="0"/>
          </a:p>
        </p:txBody>
      </p:sp>
      <p:sp>
        <p:nvSpPr>
          <p:cNvPr id="7" name="Text 5"/>
          <p:cNvSpPr/>
          <p:nvPr/>
        </p:nvSpPr>
        <p:spPr>
          <a:xfrm>
            <a:off x="502920" y="6473952"/>
            <a:ext cx="6400800" cy="237744"/>
          </a:xfrm>
          <a:prstGeom prst="rect">
            <a:avLst/>
          </a:prstGeom>
          <a:noFill/>
          <a:ln/>
        </p:spPr>
        <p:txBody>
          <a:bodyPr wrap="square" lIns="0" tIns="0" rIns="0" bIns="0" rtlCol="0" anchor="ctr"/>
          <a:lstStyle/>
          <a:p>
            <a:pPr indent="0" marL="0">
              <a:buNone/>
            </a:pPr>
            <a:r>
              <a:rPr lang="en-US" sz="1200" dirty="0">
                <a:solidFill>
                  <a:srgbClr val="5A6A7E"/>
                </a:solidFill>
                <a:latin typeface="IBM Plex Sans" pitchFamily="34" charset="0"/>
                <a:ea typeface="IBM Plex Sans" pitchFamily="34" charset="-122"/>
                <a:cs typeface="IBM Plex Sans" pitchFamily="34" charset="-120"/>
              </a:rPr>
              <a:t>Full-stack transparency</a:t>
            </a:r>
            <a:endParaRPr lang="en-US" sz="1200" dirty="0"/>
          </a:p>
        </p:txBody>
      </p:sp>
      <p:sp>
        <p:nvSpPr>
          <p:cNvPr id="8" name="Text 6"/>
          <p:cNvSpPr/>
          <p:nvPr/>
        </p:nvSpPr>
        <p:spPr>
          <a:xfrm>
            <a:off x="10515600" y="6473952"/>
            <a:ext cx="1170432" cy="237744"/>
          </a:xfrm>
          <a:prstGeom prst="rect">
            <a:avLst/>
          </a:prstGeom>
          <a:noFill/>
          <a:ln/>
        </p:spPr>
        <p:txBody>
          <a:bodyPr wrap="square" lIns="0" tIns="0" rIns="0" bIns="0" rtlCol="0" anchor="ctr"/>
          <a:lstStyle/>
          <a:p>
            <a:pPr algn="r" indent="0" marL="0">
              <a:buNone/>
            </a:pPr>
            <a:r>
              <a:rPr lang="en-US" sz="1200" dirty="0">
                <a:solidFill>
                  <a:srgbClr val="5A6A7E"/>
                </a:solidFill>
                <a:latin typeface="IBM Plex Mono" pitchFamily="34" charset="0"/>
                <a:ea typeface="IBM Plex Mono" pitchFamily="34" charset="-122"/>
                <a:cs typeface="IBM Plex Mon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11155680" cy="256032"/>
          </a:xfrm>
          <a:prstGeom prst="rect">
            <a:avLst/>
          </a:prstGeom>
          <a:noFill/>
          <a:ln/>
        </p:spPr>
        <p:txBody>
          <a:bodyPr wrap="square" lIns="0" tIns="0" rIns="0" bIns="0" rtlCol="0" anchor="ctr"/>
          <a:lstStyle/>
          <a:p>
            <a:pPr indent="0" marL="0">
              <a:buNone/>
            </a:pPr>
            <a:r>
              <a:rPr lang="en-US" sz="1200" spc="120" kern="0" dirty="0">
                <a:solidFill>
                  <a:srgbClr val="0D6E8C"/>
                </a:solidFill>
                <a:latin typeface="IBM Plex Mono" pitchFamily="34" charset="0"/>
                <a:ea typeface="IBM Plex Mono" pitchFamily="34" charset="-122"/>
                <a:cs typeface="IBM Plex Mono" pitchFamily="34" charset="-120"/>
              </a:rPr>
              <a:t>STILL A MODEL</a:t>
            </a:r>
            <a:endParaRPr lang="en-US" sz="1200" dirty="0"/>
          </a:p>
        </p:txBody>
      </p:sp>
      <p:sp>
        <p:nvSpPr>
          <p:cNvPr id="3" name="Text 1"/>
          <p:cNvSpPr/>
          <p:nvPr/>
        </p:nvSpPr>
        <p:spPr>
          <a:xfrm>
            <a:off x="502920" y="658368"/>
            <a:ext cx="11155680" cy="640080"/>
          </a:xfrm>
          <a:prstGeom prst="rect">
            <a:avLst/>
          </a:prstGeom>
          <a:noFill/>
          <a:ln/>
        </p:spPr>
        <p:txBody>
          <a:bodyPr wrap="square" lIns="0" tIns="0" rIns="0" bIns="0" rtlCol="0" anchor="ctr"/>
          <a:lstStyle/>
          <a:p>
            <a:pPr indent="0" marL="0">
              <a:buNone/>
            </a:pPr>
            <a:r>
              <a:rPr lang="en-US" sz="3200" b="1" dirty="0">
                <a:solidFill>
                  <a:srgbClr val="1A2332"/>
                </a:solidFill>
                <a:latin typeface="IBM Plex Sans" pitchFamily="34" charset="0"/>
                <a:ea typeface="IBM Plex Sans" pitchFamily="34" charset="-122"/>
                <a:cs typeface="IBM Plex Sans" pitchFamily="34" charset="-120"/>
              </a:rPr>
              <a:t>Complexity stays at the source</a:t>
            </a:r>
            <a:endParaRPr lang="en-US" sz="3200" dirty="0"/>
          </a:p>
        </p:txBody>
      </p:sp>
      <p:sp>
        <p:nvSpPr>
          <p:cNvPr id="4" name="Shape 2"/>
          <p:cNvSpPr/>
          <p:nvPr/>
        </p:nvSpPr>
        <p:spPr>
          <a:xfrm>
            <a:off x="502920" y="1691640"/>
            <a:ext cx="2176272" cy="1965960"/>
          </a:xfrm>
          <a:prstGeom prst="rect">
            <a:avLst/>
          </a:prstGeom>
          <a:solidFill>
            <a:srgbClr val="FFF6E8"/>
          </a:solidFill>
          <a:ln w="12700">
            <a:solidFill>
              <a:srgbClr val="FFF6E8"/>
            </a:solidFill>
            <a:prstDash val="solid"/>
          </a:ln>
        </p:spPr>
      </p:sp>
      <p:sp>
        <p:nvSpPr>
          <p:cNvPr id="5" name="Shape 3"/>
          <p:cNvSpPr/>
          <p:nvPr/>
        </p:nvSpPr>
        <p:spPr>
          <a:xfrm>
            <a:off x="502920" y="1691640"/>
            <a:ext cx="2176272" cy="73152"/>
          </a:xfrm>
          <a:prstGeom prst="rect">
            <a:avLst/>
          </a:prstGeom>
          <a:solidFill>
            <a:srgbClr val="C47A12"/>
          </a:solidFill>
          <a:ln w="12700">
            <a:solidFill>
              <a:srgbClr val="C47A12"/>
            </a:solidFill>
            <a:prstDash val="solid"/>
          </a:ln>
        </p:spPr>
      </p:sp>
      <p:sp>
        <p:nvSpPr>
          <p:cNvPr id="6" name="Text 4"/>
          <p:cNvSpPr/>
          <p:nvPr/>
        </p:nvSpPr>
        <p:spPr>
          <a:xfrm>
            <a:off x="630936" y="1920240"/>
            <a:ext cx="1920240" cy="457200"/>
          </a:xfrm>
          <a:prstGeom prst="rect">
            <a:avLst/>
          </a:prstGeom>
          <a:noFill/>
          <a:ln/>
        </p:spPr>
        <p:txBody>
          <a:bodyPr wrap="square" lIns="0" tIns="0" rIns="0" bIns="0" rtlCol="0" anchor="ctr"/>
          <a:lstStyle/>
          <a:p>
            <a:pPr indent="0" marL="0">
              <a:buNone/>
            </a:pPr>
            <a:r>
              <a:rPr lang="en-US" sz="1800" b="1" dirty="0">
                <a:solidFill>
                  <a:srgbClr val="1A2332"/>
                </a:solidFill>
                <a:latin typeface="IBM Plex Sans" pitchFamily="34" charset="0"/>
                <a:ea typeface="IBM Plex Sans" pitchFamily="34" charset="-122"/>
                <a:cs typeface="IBM Plex Sans" pitchFamily="34" charset="-120"/>
              </a:rPr>
              <a:t>Query</a:t>
            </a:r>
            <a:endParaRPr lang="en-US" sz="1800" dirty="0"/>
          </a:p>
        </p:txBody>
      </p:sp>
      <p:sp>
        <p:nvSpPr>
          <p:cNvPr id="7" name="Text 5"/>
          <p:cNvSpPr/>
          <p:nvPr/>
        </p:nvSpPr>
        <p:spPr>
          <a:xfrm>
            <a:off x="630936" y="2468880"/>
            <a:ext cx="1920240" cy="914400"/>
          </a:xfrm>
          <a:prstGeom prst="rect">
            <a:avLst/>
          </a:prstGeom>
          <a:noFill/>
          <a:ln/>
        </p:spPr>
        <p:txBody>
          <a:bodyPr wrap="square" lIns="0" tIns="0" rIns="0" bIns="0" rtlCol="0" anchor="ctr"/>
          <a:lstStyle/>
          <a:p>
            <a:pPr indent="0" marL="0">
              <a:buNone/>
            </a:pPr>
            <a:r>
              <a:rPr lang="en-US" sz="1400" dirty="0">
                <a:solidFill>
                  <a:srgbClr val="5A6A7E"/>
                </a:solidFill>
                <a:latin typeface="IBM Plex Sans" pitchFamily="34" charset="0"/>
                <a:ea typeface="IBM Plex Sans" pitchFamily="34" charset="-122"/>
                <a:cs typeface="IBM Plex Sans" pitchFamily="34" charset="-120"/>
              </a:rPr>
              <a:t>a join that is still a source</a:t>
            </a:r>
            <a:endParaRPr lang="en-US" sz="1400" dirty="0"/>
          </a:p>
        </p:txBody>
      </p:sp>
      <p:sp>
        <p:nvSpPr>
          <p:cNvPr id="8" name="Shape 6"/>
          <p:cNvSpPr/>
          <p:nvPr/>
        </p:nvSpPr>
        <p:spPr>
          <a:xfrm>
            <a:off x="2807208" y="1691640"/>
            <a:ext cx="2176272" cy="1965960"/>
          </a:xfrm>
          <a:prstGeom prst="rect">
            <a:avLst/>
          </a:prstGeom>
          <a:solidFill>
            <a:srgbClr val="FFF6E8"/>
          </a:solidFill>
          <a:ln w="12700">
            <a:solidFill>
              <a:srgbClr val="FFF6E8"/>
            </a:solidFill>
            <a:prstDash val="solid"/>
          </a:ln>
        </p:spPr>
      </p:sp>
      <p:sp>
        <p:nvSpPr>
          <p:cNvPr id="9" name="Shape 7"/>
          <p:cNvSpPr/>
          <p:nvPr/>
        </p:nvSpPr>
        <p:spPr>
          <a:xfrm>
            <a:off x="2807208" y="1691640"/>
            <a:ext cx="2176272" cy="73152"/>
          </a:xfrm>
          <a:prstGeom prst="rect">
            <a:avLst/>
          </a:prstGeom>
          <a:solidFill>
            <a:srgbClr val="C47A12"/>
          </a:solidFill>
          <a:ln w="12700">
            <a:solidFill>
              <a:srgbClr val="C47A12"/>
            </a:solidFill>
            <a:prstDash val="solid"/>
          </a:ln>
        </p:spPr>
      </p:sp>
      <p:sp>
        <p:nvSpPr>
          <p:cNvPr id="10" name="Text 8"/>
          <p:cNvSpPr/>
          <p:nvPr/>
        </p:nvSpPr>
        <p:spPr>
          <a:xfrm>
            <a:off x="2935224" y="1920240"/>
            <a:ext cx="1920240" cy="457200"/>
          </a:xfrm>
          <a:prstGeom prst="rect">
            <a:avLst/>
          </a:prstGeom>
          <a:noFill/>
          <a:ln/>
        </p:spPr>
        <p:txBody>
          <a:bodyPr wrap="square" lIns="0" tIns="0" rIns="0" bIns="0" rtlCol="0" anchor="ctr"/>
          <a:lstStyle/>
          <a:p>
            <a:pPr indent="0" marL="0">
              <a:buNone/>
            </a:pPr>
            <a:r>
              <a:rPr lang="en-US" sz="1800" b="1" dirty="0">
                <a:solidFill>
                  <a:srgbClr val="1A2332"/>
                </a:solidFill>
                <a:latin typeface="IBM Plex Sans" pitchFamily="34" charset="0"/>
                <a:ea typeface="IBM Plex Sans" pitchFamily="34" charset="-122"/>
                <a:cs typeface="IBM Plex Sans" pitchFamily="34" charset="-120"/>
              </a:rPr>
              <a:t>JSON</a:t>
            </a:r>
            <a:endParaRPr lang="en-US" sz="1800" dirty="0"/>
          </a:p>
        </p:txBody>
      </p:sp>
      <p:sp>
        <p:nvSpPr>
          <p:cNvPr id="11" name="Text 9"/>
          <p:cNvSpPr/>
          <p:nvPr/>
        </p:nvSpPr>
        <p:spPr>
          <a:xfrm>
            <a:off x="2935224" y="2468880"/>
            <a:ext cx="1920240" cy="914400"/>
          </a:xfrm>
          <a:prstGeom prst="rect">
            <a:avLst/>
          </a:prstGeom>
          <a:noFill/>
          <a:ln/>
        </p:spPr>
        <p:txBody>
          <a:bodyPr wrap="square" lIns="0" tIns="0" rIns="0" bIns="0" rtlCol="0" anchor="ctr"/>
          <a:lstStyle/>
          <a:p>
            <a:pPr indent="0" marL="0">
              <a:buNone/>
            </a:pPr>
            <a:r>
              <a:rPr lang="en-US" sz="1400" dirty="0">
                <a:solidFill>
                  <a:srgbClr val="5A6A7E"/>
                </a:solidFill>
                <a:latin typeface="IBM Plex Sans" pitchFamily="34" charset="0"/>
                <a:ea typeface="IBM Plex Sans" pitchFamily="34" charset="-122"/>
                <a:cs typeface="IBM Plex Sans" pitchFamily="34" charset="-120"/>
              </a:rPr>
              <a:t>a document on a parent feed</a:t>
            </a:r>
            <a:endParaRPr lang="en-US" sz="1400" dirty="0"/>
          </a:p>
        </p:txBody>
      </p:sp>
      <p:sp>
        <p:nvSpPr>
          <p:cNvPr id="12" name="Shape 10"/>
          <p:cNvSpPr/>
          <p:nvPr/>
        </p:nvSpPr>
        <p:spPr>
          <a:xfrm>
            <a:off x="5111496" y="1691640"/>
            <a:ext cx="2176272" cy="1965960"/>
          </a:xfrm>
          <a:prstGeom prst="rect">
            <a:avLst/>
          </a:prstGeom>
          <a:solidFill>
            <a:srgbClr val="FFF6E8"/>
          </a:solidFill>
          <a:ln w="12700">
            <a:solidFill>
              <a:srgbClr val="FFF6E8"/>
            </a:solidFill>
            <a:prstDash val="solid"/>
          </a:ln>
        </p:spPr>
      </p:sp>
      <p:sp>
        <p:nvSpPr>
          <p:cNvPr id="13" name="Shape 11"/>
          <p:cNvSpPr/>
          <p:nvPr/>
        </p:nvSpPr>
        <p:spPr>
          <a:xfrm>
            <a:off x="5111496" y="1691640"/>
            <a:ext cx="2176272" cy="73152"/>
          </a:xfrm>
          <a:prstGeom prst="rect">
            <a:avLst/>
          </a:prstGeom>
          <a:solidFill>
            <a:srgbClr val="C47A12"/>
          </a:solidFill>
          <a:ln w="12700">
            <a:solidFill>
              <a:srgbClr val="C47A12"/>
            </a:solidFill>
            <a:prstDash val="solid"/>
          </a:ln>
        </p:spPr>
      </p:sp>
      <p:sp>
        <p:nvSpPr>
          <p:cNvPr id="14" name="Text 12"/>
          <p:cNvSpPr/>
          <p:nvPr/>
        </p:nvSpPr>
        <p:spPr>
          <a:xfrm>
            <a:off x="5239512" y="1920240"/>
            <a:ext cx="1920240" cy="457200"/>
          </a:xfrm>
          <a:prstGeom prst="rect">
            <a:avLst/>
          </a:prstGeom>
          <a:noFill/>
          <a:ln/>
        </p:spPr>
        <p:txBody>
          <a:bodyPr wrap="square" lIns="0" tIns="0" rIns="0" bIns="0" rtlCol="0" anchor="ctr"/>
          <a:lstStyle/>
          <a:p>
            <a:pPr indent="0" marL="0">
              <a:buNone/>
            </a:pPr>
            <a:r>
              <a:rPr lang="en-US" sz="1800" b="1" dirty="0">
                <a:solidFill>
                  <a:srgbClr val="1A2332"/>
                </a:solidFill>
                <a:latin typeface="IBM Plex Sans" pitchFamily="34" charset="0"/>
                <a:ea typeface="IBM Plex Sans" pitchFamily="34" charset="-122"/>
                <a:cs typeface="IBM Plex Sans" pitchFamily="34" charset="-120"/>
              </a:rPr>
              <a:t>Pipeline</a:t>
            </a:r>
            <a:endParaRPr lang="en-US" sz="1800" dirty="0"/>
          </a:p>
        </p:txBody>
      </p:sp>
      <p:sp>
        <p:nvSpPr>
          <p:cNvPr id="15" name="Text 13"/>
          <p:cNvSpPr/>
          <p:nvPr/>
        </p:nvSpPr>
        <p:spPr>
          <a:xfrm>
            <a:off x="5239512" y="2468880"/>
            <a:ext cx="1920240" cy="914400"/>
          </a:xfrm>
          <a:prstGeom prst="rect">
            <a:avLst/>
          </a:prstGeom>
          <a:noFill/>
          <a:ln/>
        </p:spPr>
        <p:txBody>
          <a:bodyPr wrap="square" lIns="0" tIns="0" rIns="0" bIns="0" rtlCol="0" anchor="ctr"/>
          <a:lstStyle/>
          <a:p>
            <a:pPr indent="0" marL="0">
              <a:buNone/>
            </a:pPr>
            <a:r>
              <a:rPr lang="en-US" sz="1400" dirty="0">
                <a:solidFill>
                  <a:srgbClr val="5A6A7E"/>
                </a:solidFill>
                <a:latin typeface="IBM Plex Sans" pitchFamily="34" charset="0"/>
                <a:ea typeface="IBM Plex Sans" pitchFamily="34" charset="-122"/>
                <a:cs typeface="IBM Plex Sans" pitchFamily="34" charset="-120"/>
              </a:rPr>
              <a:t>a parse that stays on the model</a:t>
            </a:r>
            <a:endParaRPr lang="en-US" sz="1400" dirty="0"/>
          </a:p>
        </p:txBody>
      </p:sp>
      <p:sp>
        <p:nvSpPr>
          <p:cNvPr id="16" name="Shape 14"/>
          <p:cNvSpPr/>
          <p:nvPr/>
        </p:nvSpPr>
        <p:spPr>
          <a:xfrm>
            <a:off x="7415784" y="1691640"/>
            <a:ext cx="2176272" cy="1965960"/>
          </a:xfrm>
          <a:prstGeom prst="rect">
            <a:avLst/>
          </a:prstGeom>
          <a:solidFill>
            <a:srgbClr val="FFF6E8"/>
          </a:solidFill>
          <a:ln w="12700">
            <a:solidFill>
              <a:srgbClr val="FFF6E8"/>
            </a:solidFill>
            <a:prstDash val="solid"/>
          </a:ln>
        </p:spPr>
      </p:sp>
      <p:sp>
        <p:nvSpPr>
          <p:cNvPr id="17" name="Shape 15"/>
          <p:cNvSpPr/>
          <p:nvPr/>
        </p:nvSpPr>
        <p:spPr>
          <a:xfrm>
            <a:off x="7415784" y="1691640"/>
            <a:ext cx="2176272" cy="73152"/>
          </a:xfrm>
          <a:prstGeom prst="rect">
            <a:avLst/>
          </a:prstGeom>
          <a:solidFill>
            <a:srgbClr val="C47A12"/>
          </a:solidFill>
          <a:ln w="12700">
            <a:solidFill>
              <a:srgbClr val="C47A12"/>
            </a:solidFill>
            <a:prstDash val="solid"/>
          </a:ln>
        </p:spPr>
      </p:sp>
      <p:sp>
        <p:nvSpPr>
          <p:cNvPr id="18" name="Text 16"/>
          <p:cNvSpPr/>
          <p:nvPr/>
        </p:nvSpPr>
        <p:spPr>
          <a:xfrm>
            <a:off x="7543800" y="1920240"/>
            <a:ext cx="1920240" cy="457200"/>
          </a:xfrm>
          <a:prstGeom prst="rect">
            <a:avLst/>
          </a:prstGeom>
          <a:noFill/>
          <a:ln/>
        </p:spPr>
        <p:txBody>
          <a:bodyPr wrap="square" lIns="0" tIns="0" rIns="0" bIns="0" rtlCol="0" anchor="ctr"/>
          <a:lstStyle/>
          <a:p>
            <a:pPr indent="0" marL="0">
              <a:buNone/>
            </a:pPr>
            <a:r>
              <a:rPr lang="en-US" sz="1800" b="1" dirty="0">
                <a:solidFill>
                  <a:srgbClr val="1A2332"/>
                </a:solidFill>
                <a:latin typeface="IBM Plex Sans" pitchFamily="34" charset="0"/>
                <a:ea typeface="IBM Plex Sans" pitchFamily="34" charset="-122"/>
                <a:cs typeface="IBM Plex Sans" pitchFamily="34" charset="-120"/>
              </a:rPr>
              <a:t>Typing rule</a:t>
            </a:r>
            <a:endParaRPr lang="en-US" sz="1800" dirty="0"/>
          </a:p>
        </p:txBody>
      </p:sp>
      <p:sp>
        <p:nvSpPr>
          <p:cNvPr id="19" name="Text 17"/>
          <p:cNvSpPr/>
          <p:nvPr/>
        </p:nvSpPr>
        <p:spPr>
          <a:xfrm>
            <a:off x="7543800" y="2468880"/>
            <a:ext cx="1920240" cy="914400"/>
          </a:xfrm>
          <a:prstGeom prst="rect">
            <a:avLst/>
          </a:prstGeom>
          <a:noFill/>
          <a:ln/>
        </p:spPr>
        <p:txBody>
          <a:bodyPr wrap="square" lIns="0" tIns="0" rIns="0" bIns="0" rtlCol="0" anchor="ctr"/>
          <a:lstStyle/>
          <a:p>
            <a:pPr indent="0" marL="0">
              <a:buNone/>
            </a:pPr>
            <a:r>
              <a:rPr lang="en-US" sz="1400" dirty="0">
                <a:solidFill>
                  <a:srgbClr val="5A6A7E"/>
                </a:solidFill>
                <a:latin typeface="IBM Plex Sans" pitchFamily="34" charset="0"/>
                <a:ea typeface="IBM Plex Sans" pitchFamily="34" charset="-122"/>
                <a:cs typeface="IBM Plex Sans" pitchFamily="34" charset="-120"/>
              </a:rPr>
              <a:t>length and type, supplied by you</a:t>
            </a:r>
            <a:endParaRPr lang="en-US" sz="1400" dirty="0"/>
          </a:p>
        </p:txBody>
      </p:sp>
      <p:sp>
        <p:nvSpPr>
          <p:cNvPr id="20" name="Shape 18"/>
          <p:cNvSpPr/>
          <p:nvPr/>
        </p:nvSpPr>
        <p:spPr>
          <a:xfrm>
            <a:off x="9720072" y="1691640"/>
            <a:ext cx="2176272" cy="1965960"/>
          </a:xfrm>
          <a:prstGeom prst="rect">
            <a:avLst/>
          </a:prstGeom>
          <a:solidFill>
            <a:srgbClr val="FFF6E8"/>
          </a:solidFill>
          <a:ln w="12700">
            <a:solidFill>
              <a:srgbClr val="FFF6E8"/>
            </a:solidFill>
            <a:prstDash val="solid"/>
          </a:ln>
        </p:spPr>
      </p:sp>
      <p:sp>
        <p:nvSpPr>
          <p:cNvPr id="21" name="Shape 19"/>
          <p:cNvSpPr/>
          <p:nvPr/>
        </p:nvSpPr>
        <p:spPr>
          <a:xfrm>
            <a:off x="9720072" y="1691640"/>
            <a:ext cx="2176272" cy="73152"/>
          </a:xfrm>
          <a:prstGeom prst="rect">
            <a:avLst/>
          </a:prstGeom>
          <a:solidFill>
            <a:srgbClr val="C47A12"/>
          </a:solidFill>
          <a:ln w="12700">
            <a:solidFill>
              <a:srgbClr val="C47A12"/>
            </a:solidFill>
            <a:prstDash val="solid"/>
          </a:ln>
        </p:spPr>
      </p:sp>
      <p:sp>
        <p:nvSpPr>
          <p:cNvPr id="22" name="Text 20"/>
          <p:cNvSpPr/>
          <p:nvPr/>
        </p:nvSpPr>
        <p:spPr>
          <a:xfrm>
            <a:off x="9848088" y="1920240"/>
            <a:ext cx="1920240" cy="457200"/>
          </a:xfrm>
          <a:prstGeom prst="rect">
            <a:avLst/>
          </a:prstGeom>
          <a:noFill/>
          <a:ln/>
        </p:spPr>
        <p:txBody>
          <a:bodyPr wrap="square" lIns="0" tIns="0" rIns="0" bIns="0" rtlCol="0" anchor="ctr"/>
          <a:lstStyle/>
          <a:p>
            <a:pPr indent="0" marL="0">
              <a:buNone/>
            </a:pPr>
            <a:r>
              <a:rPr lang="en-US" sz="1800" b="1" dirty="0">
                <a:solidFill>
                  <a:srgbClr val="1A2332"/>
                </a:solidFill>
                <a:latin typeface="IBM Plex Sans" pitchFamily="34" charset="0"/>
                <a:ea typeface="IBM Plex Sans" pitchFamily="34" charset="-122"/>
                <a:cs typeface="IBM Plex Sans" pitchFamily="34" charset="-120"/>
              </a:rPr>
              <a:t>JDBC</a:t>
            </a:r>
            <a:endParaRPr lang="en-US" sz="1800" dirty="0"/>
          </a:p>
        </p:txBody>
      </p:sp>
      <p:sp>
        <p:nvSpPr>
          <p:cNvPr id="23" name="Text 21"/>
          <p:cNvSpPr/>
          <p:nvPr/>
        </p:nvSpPr>
        <p:spPr>
          <a:xfrm>
            <a:off x="9848088" y="2468880"/>
            <a:ext cx="1920240" cy="914400"/>
          </a:xfrm>
          <a:prstGeom prst="rect">
            <a:avLst/>
          </a:prstGeom>
          <a:noFill/>
          <a:ln/>
        </p:spPr>
        <p:txBody>
          <a:bodyPr wrap="square" lIns="0" tIns="0" rIns="0" bIns="0" rtlCol="0" anchor="ctr"/>
          <a:lstStyle/>
          <a:p>
            <a:pPr indent="0" marL="0">
              <a:buNone/>
            </a:pPr>
            <a:r>
              <a:rPr lang="en-US" sz="1400" dirty="0">
                <a:solidFill>
                  <a:srgbClr val="5A6A7E"/>
                </a:solidFill>
                <a:latin typeface="IBM Plex Sans" pitchFamily="34" charset="0"/>
                <a:ea typeface="IBM Plex Sans" pitchFamily="34" charset="-122"/>
                <a:cs typeface="IBM Plex Sans" pitchFamily="34" charset="-120"/>
              </a:rPr>
              <a:t>the same model, queried</a:t>
            </a:r>
            <a:endParaRPr lang="en-US" sz="1400" dirty="0"/>
          </a:p>
        </p:txBody>
      </p:sp>
      <p:sp>
        <p:nvSpPr>
          <p:cNvPr id="24" name="Shape 22"/>
          <p:cNvSpPr/>
          <p:nvPr/>
        </p:nvSpPr>
        <p:spPr>
          <a:xfrm>
            <a:off x="502920" y="4069080"/>
            <a:ext cx="11155680" cy="1234440"/>
          </a:xfrm>
          <a:prstGeom prst="rect">
            <a:avLst/>
          </a:prstGeom>
          <a:solidFill>
            <a:srgbClr val="E8F0FB"/>
          </a:solidFill>
          <a:ln w="12700">
            <a:solidFill>
              <a:srgbClr val="E8F0FB"/>
            </a:solidFill>
            <a:prstDash val="solid"/>
          </a:ln>
        </p:spPr>
      </p:sp>
      <p:sp>
        <p:nvSpPr>
          <p:cNvPr id="25" name="Shape 23"/>
          <p:cNvSpPr/>
          <p:nvPr/>
        </p:nvSpPr>
        <p:spPr>
          <a:xfrm>
            <a:off x="502920" y="4069080"/>
            <a:ext cx="11155680" cy="73152"/>
          </a:xfrm>
          <a:prstGeom prst="rect">
            <a:avLst/>
          </a:prstGeom>
          <a:solidFill>
            <a:srgbClr val="1A5FB4"/>
          </a:solidFill>
          <a:ln w="12700">
            <a:solidFill>
              <a:srgbClr val="1A5FB4"/>
            </a:solidFill>
            <a:prstDash val="solid"/>
          </a:ln>
        </p:spPr>
      </p:sp>
      <p:sp>
        <p:nvSpPr>
          <p:cNvPr id="26" name="Text 24"/>
          <p:cNvSpPr/>
          <p:nvPr/>
        </p:nvSpPr>
        <p:spPr>
          <a:xfrm>
            <a:off x="777240" y="4297680"/>
            <a:ext cx="10607040" cy="411480"/>
          </a:xfrm>
          <a:prstGeom prst="rect">
            <a:avLst/>
          </a:prstGeom>
          <a:noFill/>
          <a:ln/>
        </p:spPr>
        <p:txBody>
          <a:bodyPr wrap="square" lIns="0" tIns="0" rIns="0" bIns="0" rtlCol="0" anchor="ctr"/>
          <a:lstStyle/>
          <a:p>
            <a:pPr indent="0" marL="0">
              <a:buNone/>
            </a:pPr>
            <a:r>
              <a:rPr lang="en-US" sz="2400" b="1" dirty="0">
                <a:solidFill>
                  <a:srgbClr val="1A2332"/>
                </a:solidFill>
                <a:latin typeface="IBM Plex Sans" pitchFamily="34" charset="0"/>
                <a:ea typeface="IBM Plex Sans" pitchFamily="34" charset="-122"/>
                <a:cs typeface="IBM Plex Sans" pitchFamily="34" charset="-120"/>
              </a:rPr>
              <a:t>One generated vault load</a:t>
            </a:r>
            <a:endParaRPr lang="en-US" sz="2400" dirty="0"/>
          </a:p>
        </p:txBody>
      </p:sp>
      <p:sp>
        <p:nvSpPr>
          <p:cNvPr id="27" name="Text 25"/>
          <p:cNvSpPr/>
          <p:nvPr/>
        </p:nvSpPr>
        <p:spPr>
          <a:xfrm>
            <a:off x="777240" y="4754880"/>
            <a:ext cx="10607040" cy="365760"/>
          </a:xfrm>
          <a:prstGeom prst="rect">
            <a:avLst/>
          </a:prstGeom>
          <a:noFill/>
          <a:ln/>
        </p:spPr>
        <p:txBody>
          <a:bodyPr wrap="square" lIns="0" tIns="0" rIns="0" bIns="0" rtlCol="0" anchor="ctr"/>
          <a:lstStyle/>
          <a:p>
            <a:pPr indent="0" marL="0">
              <a:buNone/>
            </a:pPr>
            <a:r>
              <a:rPr lang="en-US" sz="1600" dirty="0">
                <a:solidFill>
                  <a:srgbClr val="5A6A7E"/>
                </a:solidFill>
                <a:latin typeface="IBM Plex Sans" pitchFamily="34" charset="0"/>
                <a:ea typeface="IBM Plex Sans" pitchFamily="34" charset="-122"/>
                <a:cs typeface="IBM Plex Sans" pitchFamily="34" charset="-120"/>
              </a:rPr>
              <a:t>The ordinary table and the awkward feed take the same path after the source.</a:t>
            </a:r>
            <a:endParaRPr lang="en-US" sz="1600" dirty="0"/>
          </a:p>
        </p:txBody>
      </p:sp>
      <p:sp>
        <p:nvSpPr>
          <p:cNvPr id="28" name="Text 26"/>
          <p:cNvSpPr/>
          <p:nvPr/>
        </p:nvSpPr>
        <p:spPr>
          <a:xfrm>
            <a:off x="502920" y="6473952"/>
            <a:ext cx="6400800" cy="237744"/>
          </a:xfrm>
          <a:prstGeom prst="rect">
            <a:avLst/>
          </a:prstGeom>
          <a:noFill/>
          <a:ln/>
        </p:spPr>
        <p:txBody>
          <a:bodyPr wrap="square" lIns="0" tIns="0" rIns="0" bIns="0" rtlCol="0" anchor="ctr"/>
          <a:lstStyle/>
          <a:p>
            <a:pPr indent="0" marL="0">
              <a:buNone/>
            </a:pPr>
            <a:r>
              <a:rPr lang="en-US" sz="1200" dirty="0">
                <a:solidFill>
                  <a:srgbClr val="5A6A7E"/>
                </a:solidFill>
                <a:latin typeface="IBM Plex Sans" pitchFamily="34" charset="0"/>
                <a:ea typeface="IBM Plex Sans" pitchFamily="34" charset="-122"/>
                <a:cs typeface="IBM Plex Sans" pitchFamily="34" charset="-120"/>
              </a:rPr>
              <a:t>Full-stack transparency</a:t>
            </a:r>
            <a:endParaRPr lang="en-US" sz="1200" dirty="0"/>
          </a:p>
        </p:txBody>
      </p:sp>
      <p:sp>
        <p:nvSpPr>
          <p:cNvPr id="29" name="Text 27"/>
          <p:cNvSpPr/>
          <p:nvPr/>
        </p:nvSpPr>
        <p:spPr>
          <a:xfrm>
            <a:off x="10515600" y="6473952"/>
            <a:ext cx="1170432" cy="237744"/>
          </a:xfrm>
          <a:prstGeom prst="rect">
            <a:avLst/>
          </a:prstGeom>
          <a:noFill/>
          <a:ln/>
        </p:spPr>
        <p:txBody>
          <a:bodyPr wrap="square" lIns="0" tIns="0" rIns="0" bIns="0" rtlCol="0" anchor="ctr"/>
          <a:lstStyle/>
          <a:p>
            <a:pPr algn="r" indent="0" marL="0">
              <a:buNone/>
            </a:pPr>
            <a:r>
              <a:rPr lang="en-US" sz="1200" dirty="0">
                <a:solidFill>
                  <a:srgbClr val="5A6A7E"/>
                </a:solidFill>
                <a:latin typeface="IBM Plex Mono" pitchFamily="34" charset="0"/>
                <a:ea typeface="IBM Plex Mono" pitchFamily="34" charset="-122"/>
                <a:cs typeface="IBM Plex Mon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11155680" cy="256032"/>
          </a:xfrm>
          <a:prstGeom prst="rect">
            <a:avLst/>
          </a:prstGeom>
          <a:noFill/>
          <a:ln/>
        </p:spPr>
        <p:txBody>
          <a:bodyPr wrap="square" lIns="0" tIns="0" rIns="0" bIns="0" rtlCol="0" anchor="ctr"/>
          <a:lstStyle/>
          <a:p>
            <a:pPr indent="0" marL="0">
              <a:buNone/>
            </a:pPr>
            <a:r>
              <a:rPr lang="en-US" sz="1200" spc="120" kern="0" dirty="0">
                <a:solidFill>
                  <a:srgbClr val="6B3FA0"/>
                </a:solidFill>
                <a:latin typeface="IBM Plex Mono" pitchFamily="34" charset="0"/>
                <a:ea typeface="IBM Plex Mono" pitchFamily="34" charset="-122"/>
                <a:cs typeface="IBM Plex Mono" pitchFamily="34" charset="-120"/>
              </a:rPr>
              <a:t>LACK OF TRANSPARENCY</a:t>
            </a:r>
            <a:endParaRPr lang="en-US" sz="1200" dirty="0"/>
          </a:p>
        </p:txBody>
      </p:sp>
      <p:sp>
        <p:nvSpPr>
          <p:cNvPr id="3" name="Text 1"/>
          <p:cNvSpPr/>
          <p:nvPr/>
        </p:nvSpPr>
        <p:spPr>
          <a:xfrm>
            <a:off x="502920" y="1463040"/>
            <a:ext cx="11155680" cy="731520"/>
          </a:xfrm>
          <a:prstGeom prst="rect">
            <a:avLst/>
          </a:prstGeom>
          <a:noFill/>
          <a:ln/>
        </p:spPr>
        <p:txBody>
          <a:bodyPr wrap="square" lIns="0" tIns="0" rIns="0" bIns="0" rtlCol="0" anchor="ctr"/>
          <a:lstStyle/>
          <a:p>
            <a:pPr indent="0" marL="0">
              <a:buNone/>
            </a:pPr>
            <a:r>
              <a:rPr lang="en-US" sz="4000" b="1" dirty="0">
                <a:solidFill>
                  <a:srgbClr val="1A2332"/>
                </a:solidFill>
                <a:latin typeface="IBM Plex Sans" pitchFamily="34" charset="0"/>
                <a:ea typeface="IBM Plex Sans" pitchFamily="34" charset="-122"/>
                <a:cs typeface="IBM Plex Sans" pitchFamily="34" charset="-120"/>
              </a:rPr>
              <a:t>Silence is not a status.</a:t>
            </a:r>
            <a:endParaRPr lang="en-US" sz="4000" dirty="0"/>
          </a:p>
        </p:txBody>
      </p:sp>
      <p:sp>
        <p:nvSpPr>
          <p:cNvPr id="4" name="Shape 2"/>
          <p:cNvSpPr/>
          <p:nvPr/>
        </p:nvSpPr>
        <p:spPr>
          <a:xfrm>
            <a:off x="502920" y="2514600"/>
            <a:ext cx="3611880" cy="1234440"/>
          </a:xfrm>
          <a:prstGeom prst="rect">
            <a:avLst/>
          </a:prstGeom>
          <a:solidFill>
            <a:srgbClr val="FFFFFF"/>
          </a:solidFill>
          <a:ln w="12700">
            <a:solidFill>
              <a:srgbClr val="FFFFFF"/>
            </a:solidFill>
            <a:prstDash val="solid"/>
          </a:ln>
        </p:spPr>
      </p:sp>
      <p:sp>
        <p:nvSpPr>
          <p:cNvPr id="5" name="Shape 3"/>
          <p:cNvSpPr/>
          <p:nvPr/>
        </p:nvSpPr>
        <p:spPr>
          <a:xfrm>
            <a:off x="502920" y="2514600"/>
            <a:ext cx="3611880" cy="73152"/>
          </a:xfrm>
          <a:prstGeom prst="rect">
            <a:avLst/>
          </a:prstGeom>
          <a:solidFill>
            <a:srgbClr val="6B3FA0"/>
          </a:solidFill>
          <a:ln w="12700">
            <a:solidFill>
              <a:srgbClr val="6B3FA0"/>
            </a:solidFill>
            <a:prstDash val="solid"/>
          </a:ln>
        </p:spPr>
      </p:sp>
      <p:sp>
        <p:nvSpPr>
          <p:cNvPr id="6" name="Text 4"/>
          <p:cNvSpPr/>
          <p:nvPr/>
        </p:nvSpPr>
        <p:spPr>
          <a:xfrm>
            <a:off x="731520" y="2788920"/>
            <a:ext cx="3154680" cy="685800"/>
          </a:xfrm>
          <a:prstGeom prst="rect">
            <a:avLst/>
          </a:prstGeom>
          <a:noFill/>
          <a:ln/>
        </p:spPr>
        <p:txBody>
          <a:bodyPr wrap="square" lIns="0" tIns="0" rIns="0" bIns="0" rtlCol="0" anchor="ctr"/>
          <a:lstStyle/>
          <a:p>
            <a:pPr indent="0" marL="0">
              <a:buNone/>
            </a:pPr>
            <a:r>
              <a:rPr lang="en-US" sz="2800" b="1" dirty="0">
                <a:solidFill>
                  <a:srgbClr val="1A2332"/>
                </a:solidFill>
                <a:latin typeface="IBM Plex Sans" pitchFamily="34" charset="0"/>
                <a:ea typeface="IBM Plex Sans" pitchFamily="34" charset="-122"/>
                <a:cs typeface="IBM Plex Sans" pitchFamily="34" charset="-120"/>
              </a:rPr>
              <a:t>Long</a:t>
            </a:r>
            <a:endParaRPr lang="en-US" sz="2800" dirty="0"/>
          </a:p>
        </p:txBody>
      </p:sp>
      <p:sp>
        <p:nvSpPr>
          <p:cNvPr id="7" name="Shape 5"/>
          <p:cNvSpPr/>
          <p:nvPr/>
        </p:nvSpPr>
        <p:spPr>
          <a:xfrm>
            <a:off x="4297680" y="2514600"/>
            <a:ext cx="3611880" cy="1234440"/>
          </a:xfrm>
          <a:prstGeom prst="rect">
            <a:avLst/>
          </a:prstGeom>
          <a:solidFill>
            <a:srgbClr val="FFFFFF"/>
          </a:solidFill>
          <a:ln w="12700">
            <a:solidFill>
              <a:srgbClr val="FFFFFF"/>
            </a:solidFill>
            <a:prstDash val="solid"/>
          </a:ln>
        </p:spPr>
      </p:sp>
      <p:sp>
        <p:nvSpPr>
          <p:cNvPr id="8" name="Shape 6"/>
          <p:cNvSpPr/>
          <p:nvPr/>
        </p:nvSpPr>
        <p:spPr>
          <a:xfrm>
            <a:off x="4297680" y="2514600"/>
            <a:ext cx="3611880" cy="73152"/>
          </a:xfrm>
          <a:prstGeom prst="rect">
            <a:avLst/>
          </a:prstGeom>
          <a:solidFill>
            <a:srgbClr val="6B3FA0"/>
          </a:solidFill>
          <a:ln w="12700">
            <a:solidFill>
              <a:srgbClr val="6B3FA0"/>
            </a:solidFill>
            <a:prstDash val="solid"/>
          </a:ln>
        </p:spPr>
      </p:sp>
      <p:sp>
        <p:nvSpPr>
          <p:cNvPr id="9" name="Text 7"/>
          <p:cNvSpPr/>
          <p:nvPr/>
        </p:nvSpPr>
        <p:spPr>
          <a:xfrm>
            <a:off x="4526280" y="2788920"/>
            <a:ext cx="3154680" cy="685800"/>
          </a:xfrm>
          <a:prstGeom prst="rect">
            <a:avLst/>
          </a:prstGeom>
          <a:noFill/>
          <a:ln/>
        </p:spPr>
        <p:txBody>
          <a:bodyPr wrap="square" lIns="0" tIns="0" rIns="0" bIns="0" rtlCol="0" anchor="ctr"/>
          <a:lstStyle/>
          <a:p>
            <a:pPr indent="0" marL="0">
              <a:buNone/>
            </a:pPr>
            <a:r>
              <a:rPr lang="en-US" sz="2800" b="1" dirty="0">
                <a:solidFill>
                  <a:srgbClr val="1A2332"/>
                </a:solidFill>
                <a:latin typeface="IBM Plex Sans" pitchFamily="34" charset="0"/>
                <a:ea typeface="IBM Plex Sans" pitchFamily="34" charset="-122"/>
                <a:cs typeface="IBM Plex Sans" pitchFamily="34" charset="-120"/>
              </a:rPr>
              <a:t>Parallel</a:t>
            </a:r>
            <a:endParaRPr lang="en-US" sz="2800" dirty="0"/>
          </a:p>
        </p:txBody>
      </p:sp>
      <p:sp>
        <p:nvSpPr>
          <p:cNvPr id="10" name="Shape 8"/>
          <p:cNvSpPr/>
          <p:nvPr/>
        </p:nvSpPr>
        <p:spPr>
          <a:xfrm>
            <a:off x="8092440" y="2514600"/>
            <a:ext cx="3611880" cy="1234440"/>
          </a:xfrm>
          <a:prstGeom prst="rect">
            <a:avLst/>
          </a:prstGeom>
          <a:solidFill>
            <a:srgbClr val="FFFFFF"/>
          </a:solidFill>
          <a:ln w="12700">
            <a:solidFill>
              <a:srgbClr val="FFFFFF"/>
            </a:solidFill>
            <a:prstDash val="solid"/>
          </a:ln>
        </p:spPr>
      </p:sp>
      <p:sp>
        <p:nvSpPr>
          <p:cNvPr id="11" name="Shape 9"/>
          <p:cNvSpPr/>
          <p:nvPr/>
        </p:nvSpPr>
        <p:spPr>
          <a:xfrm>
            <a:off x="8092440" y="2514600"/>
            <a:ext cx="3611880" cy="73152"/>
          </a:xfrm>
          <a:prstGeom prst="rect">
            <a:avLst/>
          </a:prstGeom>
          <a:solidFill>
            <a:srgbClr val="6B3FA0"/>
          </a:solidFill>
          <a:ln w="12700">
            <a:solidFill>
              <a:srgbClr val="6B3FA0"/>
            </a:solidFill>
            <a:prstDash val="solid"/>
          </a:ln>
        </p:spPr>
      </p:sp>
      <p:sp>
        <p:nvSpPr>
          <p:cNvPr id="12" name="Text 10"/>
          <p:cNvSpPr/>
          <p:nvPr/>
        </p:nvSpPr>
        <p:spPr>
          <a:xfrm>
            <a:off x="8321040" y="2788920"/>
            <a:ext cx="3154680" cy="685800"/>
          </a:xfrm>
          <a:prstGeom prst="rect">
            <a:avLst/>
          </a:prstGeom>
          <a:noFill/>
          <a:ln/>
        </p:spPr>
        <p:txBody>
          <a:bodyPr wrap="square" lIns="0" tIns="0" rIns="0" bIns="0" rtlCol="0" anchor="ctr"/>
          <a:lstStyle/>
          <a:p>
            <a:pPr indent="0" marL="0">
              <a:buNone/>
            </a:pPr>
            <a:r>
              <a:rPr lang="en-US" sz="2800" b="1" dirty="0">
                <a:solidFill>
                  <a:srgbClr val="1A2332"/>
                </a:solidFill>
                <a:latin typeface="IBM Plex Sans" pitchFamily="34" charset="0"/>
                <a:ea typeface="IBM Plex Sans" pitchFamily="34" charset="-122"/>
                <a:cs typeface="IBM Plex Sans" pitchFamily="34" charset="-120"/>
              </a:rPr>
              <a:t>Remote</a:t>
            </a:r>
            <a:endParaRPr lang="en-US" sz="2800" dirty="0"/>
          </a:p>
        </p:txBody>
      </p:sp>
      <p:sp>
        <p:nvSpPr>
          <p:cNvPr id="13" name="Text 11"/>
          <p:cNvSpPr/>
          <p:nvPr/>
        </p:nvSpPr>
        <p:spPr>
          <a:xfrm>
            <a:off x="502920" y="4114800"/>
            <a:ext cx="11155680" cy="640080"/>
          </a:xfrm>
          <a:prstGeom prst="rect">
            <a:avLst/>
          </a:prstGeom>
          <a:noFill/>
          <a:ln/>
        </p:spPr>
        <p:txBody>
          <a:bodyPr wrap="square" lIns="0" tIns="0" rIns="0" bIns="0" rtlCol="0" anchor="ctr"/>
          <a:lstStyle/>
          <a:p>
            <a:pPr indent="0" marL="0">
              <a:buNone/>
            </a:pPr>
            <a:r>
              <a:rPr lang="en-US" sz="2200" dirty="0">
                <a:solidFill>
                  <a:srgbClr val="5A6A7E"/>
                </a:solidFill>
                <a:latin typeface="IBM Plex Sans" pitchFamily="34" charset="0"/>
                <a:ea typeface="IBM Plex Sans" pitchFamily="34" charset="-122"/>
                <a:cs typeface="IBM Plex Sans" pitchFamily="34" charset="-120"/>
              </a:rPr>
              <a:t>A drawing with no last duration does not answer what happened.</a:t>
            </a:r>
            <a:endParaRPr lang="en-US" sz="2200" dirty="0"/>
          </a:p>
        </p:txBody>
      </p:sp>
      <p:sp>
        <p:nvSpPr>
          <p:cNvPr id="14" name="Text 12"/>
          <p:cNvSpPr/>
          <p:nvPr/>
        </p:nvSpPr>
        <p:spPr>
          <a:xfrm>
            <a:off x="502920" y="6473952"/>
            <a:ext cx="6400800" cy="237744"/>
          </a:xfrm>
          <a:prstGeom prst="rect">
            <a:avLst/>
          </a:prstGeom>
          <a:noFill/>
          <a:ln/>
        </p:spPr>
        <p:txBody>
          <a:bodyPr wrap="square" lIns="0" tIns="0" rIns="0" bIns="0" rtlCol="0" anchor="ctr"/>
          <a:lstStyle/>
          <a:p>
            <a:pPr indent="0" marL="0">
              <a:buNone/>
            </a:pPr>
            <a:r>
              <a:rPr lang="en-US" sz="1200" dirty="0">
                <a:solidFill>
                  <a:srgbClr val="5A6A7E"/>
                </a:solidFill>
                <a:latin typeface="IBM Plex Sans" pitchFamily="34" charset="0"/>
                <a:ea typeface="IBM Plex Sans" pitchFamily="34" charset="-122"/>
                <a:cs typeface="IBM Plex Sans" pitchFamily="34" charset="-120"/>
              </a:rPr>
              <a:t>Full-stack transparency</a:t>
            </a:r>
            <a:endParaRPr lang="en-US" sz="1200" dirty="0"/>
          </a:p>
        </p:txBody>
      </p:sp>
      <p:sp>
        <p:nvSpPr>
          <p:cNvPr id="15" name="Text 13"/>
          <p:cNvSpPr/>
          <p:nvPr/>
        </p:nvSpPr>
        <p:spPr>
          <a:xfrm>
            <a:off x="10515600" y="6473952"/>
            <a:ext cx="1170432" cy="237744"/>
          </a:xfrm>
          <a:prstGeom prst="rect">
            <a:avLst/>
          </a:prstGeom>
          <a:noFill/>
          <a:ln/>
        </p:spPr>
        <p:txBody>
          <a:bodyPr wrap="square" lIns="0" tIns="0" rIns="0" bIns="0" rtlCol="0" anchor="ctr"/>
          <a:lstStyle/>
          <a:p>
            <a:pPr algn="r" indent="0" marL="0">
              <a:buNone/>
            </a:pPr>
            <a:r>
              <a:rPr lang="en-US" sz="1200" dirty="0">
                <a:solidFill>
                  <a:srgbClr val="5A6A7E"/>
                </a:solidFill>
                <a:latin typeface="IBM Plex Mono" pitchFamily="34" charset="0"/>
                <a:ea typeface="IBM Plex Mono" pitchFamily="34" charset="-122"/>
                <a:cs typeface="IBM Plex Mon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11155680" cy="256032"/>
          </a:xfrm>
          <a:prstGeom prst="rect">
            <a:avLst/>
          </a:prstGeom>
          <a:noFill/>
          <a:ln/>
        </p:spPr>
        <p:txBody>
          <a:bodyPr wrap="square" lIns="0" tIns="0" rIns="0" bIns="0" rtlCol="0" anchor="ctr"/>
          <a:lstStyle/>
          <a:p>
            <a:pPr indent="0" marL="0">
              <a:buNone/>
            </a:pPr>
            <a:r>
              <a:rPr lang="en-US" sz="1200" spc="120" kern="0" dirty="0">
                <a:solidFill>
                  <a:srgbClr val="0D6E8C"/>
                </a:solidFill>
                <a:latin typeface="IBM Plex Mono" pitchFamily="34" charset="0"/>
                <a:ea typeface="IBM Plex Mono" pitchFamily="34" charset="-122"/>
                <a:cs typeface="IBM Plex Mono" pitchFamily="34" charset="-120"/>
              </a:rPr>
              <a:t>ON THE OBJECT</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200" b="1" dirty="0">
                <a:solidFill>
                  <a:srgbClr val="1A2332"/>
                </a:solidFill>
                <a:latin typeface="IBM Plex Sans" pitchFamily="34" charset="0"/>
                <a:ea typeface="IBM Plex Sans" pitchFamily="34" charset="-122"/>
                <a:cs typeface="IBM Plex Sans" pitchFamily="34" charset="-120"/>
              </a:rPr>
              <a:t>The canvas is the operations surface</a:t>
            </a:r>
            <a:endParaRPr lang="en-US" sz="3200" dirty="0"/>
          </a:p>
        </p:txBody>
      </p:sp>
      <p:sp>
        <p:nvSpPr>
          <p:cNvPr id="4" name="Shape 2"/>
          <p:cNvSpPr/>
          <p:nvPr/>
        </p:nvSpPr>
        <p:spPr>
          <a:xfrm>
            <a:off x="502920" y="1737360"/>
            <a:ext cx="5577840" cy="1261872"/>
          </a:xfrm>
          <a:prstGeom prst="rect">
            <a:avLst/>
          </a:prstGeom>
          <a:solidFill>
            <a:srgbClr val="FFFFFF"/>
          </a:solidFill>
          <a:ln w="12700">
            <a:solidFill>
              <a:srgbClr val="FFFFFF"/>
            </a:solidFill>
            <a:prstDash val="solid"/>
          </a:ln>
        </p:spPr>
      </p:sp>
      <p:sp>
        <p:nvSpPr>
          <p:cNvPr id="5" name="Shape 3"/>
          <p:cNvSpPr/>
          <p:nvPr/>
        </p:nvSpPr>
        <p:spPr>
          <a:xfrm>
            <a:off x="502920" y="1737360"/>
            <a:ext cx="5577840" cy="73152"/>
          </a:xfrm>
          <a:prstGeom prst="rect">
            <a:avLst/>
          </a:prstGeom>
          <a:solidFill>
            <a:srgbClr val="0D6E8C"/>
          </a:solidFill>
          <a:ln w="12700">
            <a:solidFill>
              <a:srgbClr val="0D6E8C"/>
            </a:solidFill>
            <a:prstDash val="solid"/>
          </a:ln>
        </p:spPr>
      </p:sp>
      <p:sp>
        <p:nvSpPr>
          <p:cNvPr id="6" name="Text 4"/>
          <p:cNvSpPr/>
          <p:nvPr/>
        </p:nvSpPr>
        <p:spPr>
          <a:xfrm>
            <a:off x="777240" y="2103120"/>
            <a:ext cx="5029200" cy="548640"/>
          </a:xfrm>
          <a:prstGeom prst="rect">
            <a:avLst/>
          </a:prstGeom>
          <a:noFill/>
          <a:ln/>
        </p:spPr>
        <p:txBody>
          <a:bodyPr wrap="square" lIns="0" tIns="0" rIns="0" bIns="0" rtlCol="0" anchor="ctr"/>
          <a:lstStyle/>
          <a:p>
            <a:pPr indent="0" marL="0">
              <a:buNone/>
            </a:pPr>
            <a:r>
              <a:rPr lang="en-US" sz="2200" b="1" dirty="0">
                <a:solidFill>
                  <a:srgbClr val="1A2332"/>
                </a:solidFill>
                <a:latin typeface="IBM Plex Sans" pitchFamily="34" charset="0"/>
                <a:ea typeface="IBM Plex Sans" pitchFamily="34" charset="-122"/>
                <a:cs typeface="IBM Plex Sans" pitchFamily="34" charset="-120"/>
              </a:rPr>
              <a:t>Metrics beside the model</a:t>
            </a:r>
            <a:endParaRPr lang="en-US" sz="2200" dirty="0"/>
          </a:p>
        </p:txBody>
      </p:sp>
      <p:sp>
        <p:nvSpPr>
          <p:cNvPr id="7" name="Shape 5"/>
          <p:cNvSpPr/>
          <p:nvPr/>
        </p:nvSpPr>
        <p:spPr>
          <a:xfrm>
            <a:off x="6309360" y="1737360"/>
            <a:ext cx="5577840" cy="1261872"/>
          </a:xfrm>
          <a:prstGeom prst="rect">
            <a:avLst/>
          </a:prstGeom>
          <a:solidFill>
            <a:srgbClr val="FFFFFF"/>
          </a:solidFill>
          <a:ln w="12700">
            <a:solidFill>
              <a:srgbClr val="FFFFFF"/>
            </a:solidFill>
            <a:prstDash val="solid"/>
          </a:ln>
        </p:spPr>
      </p:sp>
      <p:sp>
        <p:nvSpPr>
          <p:cNvPr id="8" name="Shape 6"/>
          <p:cNvSpPr/>
          <p:nvPr/>
        </p:nvSpPr>
        <p:spPr>
          <a:xfrm>
            <a:off x="6309360" y="1737360"/>
            <a:ext cx="5577840" cy="73152"/>
          </a:xfrm>
          <a:prstGeom prst="rect">
            <a:avLst/>
          </a:prstGeom>
          <a:solidFill>
            <a:srgbClr val="1A5FB4"/>
          </a:solidFill>
          <a:ln w="12700">
            <a:solidFill>
              <a:srgbClr val="1A5FB4"/>
            </a:solidFill>
            <a:prstDash val="solid"/>
          </a:ln>
        </p:spPr>
      </p:sp>
      <p:sp>
        <p:nvSpPr>
          <p:cNvPr id="9" name="Text 7"/>
          <p:cNvSpPr/>
          <p:nvPr/>
        </p:nvSpPr>
        <p:spPr>
          <a:xfrm>
            <a:off x="6583680" y="2103120"/>
            <a:ext cx="5029200" cy="548640"/>
          </a:xfrm>
          <a:prstGeom prst="rect">
            <a:avLst/>
          </a:prstGeom>
          <a:noFill/>
          <a:ln/>
        </p:spPr>
        <p:txBody>
          <a:bodyPr wrap="square" lIns="0" tIns="0" rIns="0" bIns="0" rtlCol="0" anchor="ctr"/>
          <a:lstStyle/>
          <a:p>
            <a:pPr indent="0" marL="0">
              <a:buNone/>
            </a:pPr>
            <a:r>
              <a:rPr lang="en-US" sz="2200" b="1" dirty="0">
                <a:solidFill>
                  <a:srgbClr val="1A2332"/>
                </a:solidFill>
                <a:latin typeface="IBM Plex Sans" pitchFamily="34" charset="0"/>
                <a:ea typeface="IBM Plex Sans" pitchFamily="34" charset="-122"/>
                <a:cs typeface="IBM Plex Sans" pitchFamily="34" charset="-120"/>
              </a:rPr>
              <a:t>Durations on the lineage</a:t>
            </a:r>
            <a:endParaRPr lang="en-US" sz="2200" dirty="0"/>
          </a:p>
        </p:txBody>
      </p:sp>
      <p:sp>
        <p:nvSpPr>
          <p:cNvPr id="10" name="Shape 8"/>
          <p:cNvSpPr/>
          <p:nvPr/>
        </p:nvSpPr>
        <p:spPr>
          <a:xfrm>
            <a:off x="502920" y="3154680"/>
            <a:ext cx="5577840" cy="1261872"/>
          </a:xfrm>
          <a:prstGeom prst="rect">
            <a:avLst/>
          </a:prstGeom>
          <a:solidFill>
            <a:srgbClr val="FFFFFF"/>
          </a:solidFill>
          <a:ln w="12700">
            <a:solidFill>
              <a:srgbClr val="FFFFFF"/>
            </a:solidFill>
            <a:prstDash val="solid"/>
          </a:ln>
        </p:spPr>
      </p:sp>
      <p:sp>
        <p:nvSpPr>
          <p:cNvPr id="11" name="Shape 9"/>
          <p:cNvSpPr/>
          <p:nvPr/>
        </p:nvSpPr>
        <p:spPr>
          <a:xfrm>
            <a:off x="502920" y="3154680"/>
            <a:ext cx="5577840" cy="73152"/>
          </a:xfrm>
          <a:prstGeom prst="rect">
            <a:avLst/>
          </a:prstGeom>
          <a:solidFill>
            <a:srgbClr val="9A5B00"/>
          </a:solidFill>
          <a:ln w="12700">
            <a:solidFill>
              <a:srgbClr val="9A5B00"/>
            </a:solidFill>
            <a:prstDash val="solid"/>
          </a:ln>
        </p:spPr>
      </p:sp>
      <p:sp>
        <p:nvSpPr>
          <p:cNvPr id="12" name="Text 10"/>
          <p:cNvSpPr/>
          <p:nvPr/>
        </p:nvSpPr>
        <p:spPr>
          <a:xfrm>
            <a:off x="777240" y="3520440"/>
            <a:ext cx="5029200" cy="548640"/>
          </a:xfrm>
          <a:prstGeom prst="rect">
            <a:avLst/>
          </a:prstGeom>
          <a:noFill/>
          <a:ln/>
        </p:spPr>
        <p:txBody>
          <a:bodyPr wrap="square" lIns="0" tIns="0" rIns="0" bIns="0" rtlCol="0" anchor="ctr"/>
          <a:lstStyle/>
          <a:p>
            <a:pPr indent="0" marL="0">
              <a:buNone/>
            </a:pPr>
            <a:r>
              <a:rPr lang="en-US" sz="2200" b="1" dirty="0">
                <a:solidFill>
                  <a:srgbClr val="1A2332"/>
                </a:solidFill>
                <a:latin typeface="IBM Plex Sans" pitchFamily="34" charset="0"/>
                <a:ea typeface="IBM Plex Sans" pitchFamily="34" charset="-122"/>
                <a:cs typeface="IBM Plex Sans" pitchFamily="34" charset="-120"/>
              </a:rPr>
              <a:t>Status while it runs</a:t>
            </a:r>
            <a:endParaRPr lang="en-US" sz="2200" dirty="0"/>
          </a:p>
        </p:txBody>
      </p:sp>
      <p:sp>
        <p:nvSpPr>
          <p:cNvPr id="13" name="Shape 11"/>
          <p:cNvSpPr/>
          <p:nvPr/>
        </p:nvSpPr>
        <p:spPr>
          <a:xfrm>
            <a:off x="6309360" y="3154680"/>
            <a:ext cx="5577840" cy="1261872"/>
          </a:xfrm>
          <a:prstGeom prst="rect">
            <a:avLst/>
          </a:prstGeom>
          <a:solidFill>
            <a:srgbClr val="FFFFFF"/>
          </a:solidFill>
          <a:ln w="12700">
            <a:solidFill>
              <a:srgbClr val="FFFFFF"/>
            </a:solidFill>
            <a:prstDash val="solid"/>
          </a:ln>
        </p:spPr>
      </p:sp>
      <p:sp>
        <p:nvSpPr>
          <p:cNvPr id="14" name="Shape 12"/>
          <p:cNvSpPr/>
          <p:nvPr/>
        </p:nvSpPr>
        <p:spPr>
          <a:xfrm>
            <a:off x="6309360" y="3154680"/>
            <a:ext cx="5577840" cy="73152"/>
          </a:xfrm>
          <a:prstGeom prst="rect">
            <a:avLst/>
          </a:prstGeom>
          <a:solidFill>
            <a:srgbClr val="1E7A46"/>
          </a:solidFill>
          <a:ln w="12700">
            <a:solidFill>
              <a:srgbClr val="1E7A46"/>
            </a:solidFill>
            <a:prstDash val="solid"/>
          </a:ln>
        </p:spPr>
      </p:sp>
      <p:sp>
        <p:nvSpPr>
          <p:cNvPr id="15" name="Text 13"/>
          <p:cNvSpPr/>
          <p:nvPr/>
        </p:nvSpPr>
        <p:spPr>
          <a:xfrm>
            <a:off x="6583680" y="3520440"/>
            <a:ext cx="5029200" cy="548640"/>
          </a:xfrm>
          <a:prstGeom prst="rect">
            <a:avLst/>
          </a:prstGeom>
          <a:noFill/>
          <a:ln/>
        </p:spPr>
        <p:txBody>
          <a:bodyPr wrap="square" lIns="0" tIns="0" rIns="0" bIns="0" rtlCol="0" anchor="ctr"/>
          <a:lstStyle/>
          <a:p>
            <a:pPr indent="0" marL="0">
              <a:buNone/>
            </a:pPr>
            <a:r>
              <a:rPr lang="en-US" sz="2200" b="1" dirty="0">
                <a:solidFill>
                  <a:srgbClr val="1A2332"/>
                </a:solidFill>
                <a:latin typeface="IBM Plex Sans" pitchFamily="34" charset="0"/>
                <a:ea typeface="IBM Plex Sans" pitchFamily="34" charset="-122"/>
                <a:cs typeface="IBM Plex Sans" pitchFamily="34" charset="-120"/>
              </a:rPr>
              <a:t>A report when it is done</a:t>
            </a:r>
            <a:endParaRPr lang="en-US" sz="2200" dirty="0"/>
          </a:p>
        </p:txBody>
      </p:sp>
      <p:sp>
        <p:nvSpPr>
          <p:cNvPr id="16" name="Text 14"/>
          <p:cNvSpPr/>
          <p:nvPr/>
        </p:nvSpPr>
        <p:spPr>
          <a:xfrm>
            <a:off x="502920" y="4754880"/>
            <a:ext cx="11155680" cy="457200"/>
          </a:xfrm>
          <a:prstGeom prst="rect">
            <a:avLst/>
          </a:prstGeom>
          <a:noFill/>
          <a:ln/>
        </p:spPr>
        <p:txBody>
          <a:bodyPr wrap="square" lIns="0" tIns="0" rIns="0" bIns="0" rtlCol="0" anchor="ctr"/>
          <a:lstStyle/>
          <a:p>
            <a:pPr indent="0" marL="0">
              <a:buNone/>
            </a:pPr>
            <a:r>
              <a:rPr lang="en-US" sz="1800" i="1" dirty="0">
                <a:solidFill>
                  <a:srgbClr val="5A6A7E"/>
                </a:solidFill>
                <a:latin typeface="IBM Plex Sans" pitchFamily="34" charset="0"/>
                <a:ea typeface="IBM Plex Sans" pitchFamily="34" charset="-122"/>
                <a:cs typeface="IBM Plex Sans" pitchFamily="34" charset="-120"/>
              </a:rPr>
              <a:t>Journey opens these surfaces. It is not a second modeler.</a:t>
            </a:r>
            <a:endParaRPr lang="en-US" sz="1800" dirty="0"/>
          </a:p>
        </p:txBody>
      </p:sp>
      <p:sp>
        <p:nvSpPr>
          <p:cNvPr id="17" name="Text 15"/>
          <p:cNvSpPr/>
          <p:nvPr/>
        </p:nvSpPr>
        <p:spPr>
          <a:xfrm>
            <a:off x="502920" y="6473952"/>
            <a:ext cx="6400800" cy="237744"/>
          </a:xfrm>
          <a:prstGeom prst="rect">
            <a:avLst/>
          </a:prstGeom>
          <a:noFill/>
          <a:ln/>
        </p:spPr>
        <p:txBody>
          <a:bodyPr wrap="square" lIns="0" tIns="0" rIns="0" bIns="0" rtlCol="0" anchor="ctr"/>
          <a:lstStyle/>
          <a:p>
            <a:pPr indent="0" marL="0">
              <a:buNone/>
            </a:pPr>
            <a:r>
              <a:rPr lang="en-US" sz="1200" dirty="0">
                <a:solidFill>
                  <a:srgbClr val="5A6A7E"/>
                </a:solidFill>
                <a:latin typeface="IBM Plex Sans" pitchFamily="34" charset="0"/>
                <a:ea typeface="IBM Plex Sans" pitchFamily="34" charset="-122"/>
                <a:cs typeface="IBM Plex Sans" pitchFamily="34" charset="-120"/>
              </a:rPr>
              <a:t>Full-stack transparency</a:t>
            </a:r>
            <a:endParaRPr lang="en-US" sz="1200" dirty="0"/>
          </a:p>
        </p:txBody>
      </p:sp>
      <p:sp>
        <p:nvSpPr>
          <p:cNvPr id="18" name="Text 16"/>
          <p:cNvSpPr/>
          <p:nvPr/>
        </p:nvSpPr>
        <p:spPr>
          <a:xfrm>
            <a:off x="10515600" y="6473952"/>
            <a:ext cx="1170432" cy="237744"/>
          </a:xfrm>
          <a:prstGeom prst="rect">
            <a:avLst/>
          </a:prstGeom>
          <a:noFill/>
          <a:ln/>
        </p:spPr>
        <p:txBody>
          <a:bodyPr wrap="square" lIns="0" tIns="0" rIns="0" bIns="0" rtlCol="0" anchor="ctr"/>
          <a:lstStyle/>
          <a:p>
            <a:pPr algn="r" indent="0" marL="0">
              <a:buNone/>
            </a:pPr>
            <a:r>
              <a:rPr lang="en-US" sz="1200" dirty="0">
                <a:solidFill>
                  <a:srgbClr val="5A6A7E"/>
                </a:solidFill>
                <a:latin typeface="IBM Plex Mono" pitchFamily="34" charset="0"/>
                <a:ea typeface="IBM Plex Mono" pitchFamily="34" charset="-122"/>
                <a:cs typeface="IBM Plex Mon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46304" cy="1371600"/>
          </a:xfrm>
          <a:prstGeom prst="rect">
            <a:avLst/>
          </a:prstGeom>
          <a:solidFill>
            <a:srgbClr val="C47A12"/>
          </a:solidFill>
          <a:ln w="12700">
            <a:solidFill>
              <a:srgbClr val="C47A12"/>
            </a:solidFill>
            <a:prstDash val="solid"/>
          </a:ln>
        </p:spPr>
      </p:sp>
      <p:sp>
        <p:nvSpPr>
          <p:cNvPr id="3" name="Shape 1"/>
          <p:cNvSpPr/>
          <p:nvPr/>
        </p:nvSpPr>
        <p:spPr>
          <a:xfrm>
            <a:off x="0" y="1371600"/>
            <a:ext cx="146304" cy="1371600"/>
          </a:xfrm>
          <a:prstGeom prst="rect">
            <a:avLst/>
          </a:prstGeom>
          <a:solidFill>
            <a:srgbClr val="4A5568"/>
          </a:solidFill>
          <a:ln w="12700">
            <a:solidFill>
              <a:srgbClr val="4A5568"/>
            </a:solidFill>
            <a:prstDash val="solid"/>
          </a:ln>
        </p:spPr>
      </p:sp>
      <p:sp>
        <p:nvSpPr>
          <p:cNvPr id="4" name="Shape 2"/>
          <p:cNvSpPr/>
          <p:nvPr/>
        </p:nvSpPr>
        <p:spPr>
          <a:xfrm>
            <a:off x="0" y="2743200"/>
            <a:ext cx="146304" cy="1371600"/>
          </a:xfrm>
          <a:prstGeom prst="rect">
            <a:avLst/>
          </a:prstGeom>
          <a:solidFill>
            <a:srgbClr val="1A5FB4"/>
          </a:solidFill>
          <a:ln w="12700">
            <a:solidFill>
              <a:srgbClr val="1A5FB4"/>
            </a:solidFill>
            <a:prstDash val="solid"/>
          </a:ln>
        </p:spPr>
      </p:sp>
      <p:sp>
        <p:nvSpPr>
          <p:cNvPr id="5" name="Shape 3"/>
          <p:cNvSpPr/>
          <p:nvPr/>
        </p:nvSpPr>
        <p:spPr>
          <a:xfrm>
            <a:off x="0" y="4114800"/>
            <a:ext cx="146304" cy="1371600"/>
          </a:xfrm>
          <a:prstGeom prst="rect">
            <a:avLst/>
          </a:prstGeom>
          <a:solidFill>
            <a:srgbClr val="6B3FA0"/>
          </a:solidFill>
          <a:ln w="12700">
            <a:solidFill>
              <a:srgbClr val="6B3FA0"/>
            </a:solidFill>
            <a:prstDash val="solid"/>
          </a:ln>
        </p:spPr>
      </p:sp>
      <p:sp>
        <p:nvSpPr>
          <p:cNvPr id="6" name="Shape 4"/>
          <p:cNvSpPr/>
          <p:nvPr/>
        </p:nvSpPr>
        <p:spPr>
          <a:xfrm>
            <a:off x="0" y="5486400"/>
            <a:ext cx="146304" cy="1371600"/>
          </a:xfrm>
          <a:prstGeom prst="rect">
            <a:avLst/>
          </a:prstGeom>
          <a:solidFill>
            <a:srgbClr val="1E7A46"/>
          </a:solidFill>
          <a:ln w="12700">
            <a:solidFill>
              <a:srgbClr val="1E7A46"/>
            </a:solidFill>
            <a:prstDash val="solid"/>
          </a:ln>
        </p:spPr>
      </p:sp>
      <p:sp>
        <p:nvSpPr>
          <p:cNvPr id="7" name="Text 5"/>
          <p:cNvSpPr/>
          <p:nvPr/>
        </p:nvSpPr>
        <p:spPr>
          <a:xfrm>
            <a:off x="640080" y="1417320"/>
            <a:ext cx="10972800" cy="274320"/>
          </a:xfrm>
          <a:prstGeom prst="rect">
            <a:avLst/>
          </a:prstGeom>
          <a:noFill/>
          <a:ln/>
        </p:spPr>
        <p:txBody>
          <a:bodyPr wrap="square" lIns="0" tIns="0" rIns="0" bIns="0" rtlCol="0" anchor="ctr"/>
          <a:lstStyle/>
          <a:p>
            <a:pPr indent="0" marL="0">
              <a:buNone/>
            </a:pPr>
            <a:r>
              <a:rPr lang="en-US" sz="1400" spc="160" kern="0" dirty="0">
                <a:solidFill>
                  <a:srgbClr val="E7C98A"/>
                </a:solidFill>
                <a:latin typeface="IBM Plex Mono" pitchFamily="34" charset="0"/>
                <a:ea typeface="IBM Plex Mono" pitchFamily="34" charset="-122"/>
                <a:cs typeface="IBM Plex Mono" pitchFamily="34" charset="-120"/>
              </a:rPr>
              <a:t>DEMO</a:t>
            </a:r>
            <a:endParaRPr lang="en-US" sz="1400" dirty="0"/>
          </a:p>
        </p:txBody>
      </p:sp>
      <p:sp>
        <p:nvSpPr>
          <p:cNvPr id="8" name="Text 6"/>
          <p:cNvSpPr/>
          <p:nvPr/>
        </p:nvSpPr>
        <p:spPr>
          <a:xfrm>
            <a:off x="640080" y="1965960"/>
            <a:ext cx="10789920" cy="2194560"/>
          </a:xfrm>
          <a:prstGeom prst="rect">
            <a:avLst/>
          </a:prstGeom>
          <a:noFill/>
          <a:ln/>
        </p:spPr>
        <p:txBody>
          <a:bodyPr wrap="square" lIns="0" tIns="0" rIns="0" bIns="0" rtlCol="0" anchor="ctr"/>
          <a:lstStyle/>
          <a:p>
            <a:pPr indent="0" marL="0">
              <a:buNone/>
            </a:pPr>
            <a:r>
              <a:rPr lang="en-US" sz="3600" b="1" dirty="0">
                <a:solidFill>
                  <a:srgbClr val="FFFFFF"/>
                </a:solidFill>
                <a:latin typeface="IBM Plex Sans" pitchFamily="34" charset="0"/>
                <a:ea typeface="IBM Plex Sans" pitchFamily="34" charset="-122"/>
                <a:cs typeface="IBM Plex Sans" pitchFamily="34" charset="-120"/>
              </a:rPr>
              <a:t>This customer changed. Where do I look, and what am I allowed to change?</a:t>
            </a:r>
            <a:endParaRPr lang="en-US" sz="3600" dirty="0"/>
          </a:p>
        </p:txBody>
      </p:sp>
      <p:sp>
        <p:nvSpPr>
          <p:cNvPr id="9" name="Text 7"/>
          <p:cNvSpPr/>
          <p:nvPr/>
        </p:nvSpPr>
        <p:spPr>
          <a:xfrm>
            <a:off x="640080" y="6263640"/>
            <a:ext cx="9144000" cy="274320"/>
          </a:xfrm>
          <a:prstGeom prst="rect">
            <a:avLst/>
          </a:prstGeom>
          <a:noFill/>
          <a:ln/>
        </p:spPr>
        <p:txBody>
          <a:bodyPr wrap="square" lIns="0" tIns="0" rIns="0" bIns="0" rtlCol="0" anchor="ctr"/>
          <a:lstStyle/>
          <a:p>
            <a:pPr indent="0" marL="0">
              <a:buNone/>
            </a:pPr>
            <a:r>
              <a:rPr lang="en-US" sz="1400" dirty="0">
                <a:solidFill>
                  <a:srgbClr val="8A97A8"/>
                </a:solidFill>
                <a:latin typeface="IBM Plex Sans" pitchFamily="34" charset="0"/>
                <a:ea typeface="IBM Plex Sans" pitchFamily="34" charset="-122"/>
                <a:cs typeface="IBM Plex Sans" pitchFamily="34" charset="-120"/>
              </a:rPr>
              <a:t>retail-example   ·   customer   ·   4 minutes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0"/>
            <a:ext cx="146304" cy="1371600"/>
          </a:xfrm>
          <a:prstGeom prst="rect">
            <a:avLst/>
          </a:prstGeom>
          <a:solidFill>
            <a:srgbClr val="C47A12"/>
          </a:solidFill>
          <a:ln w="12700">
            <a:solidFill>
              <a:srgbClr val="C47A12"/>
            </a:solidFill>
            <a:prstDash val="solid"/>
          </a:ln>
        </p:spPr>
      </p:sp>
      <p:sp>
        <p:nvSpPr>
          <p:cNvPr id="3" name="Shape 1"/>
          <p:cNvSpPr/>
          <p:nvPr/>
        </p:nvSpPr>
        <p:spPr>
          <a:xfrm>
            <a:off x="0" y="1371600"/>
            <a:ext cx="146304" cy="1371600"/>
          </a:xfrm>
          <a:prstGeom prst="rect">
            <a:avLst/>
          </a:prstGeom>
          <a:solidFill>
            <a:srgbClr val="4A5568"/>
          </a:solidFill>
          <a:ln w="12700">
            <a:solidFill>
              <a:srgbClr val="4A5568"/>
            </a:solidFill>
            <a:prstDash val="solid"/>
          </a:ln>
        </p:spPr>
      </p:sp>
      <p:sp>
        <p:nvSpPr>
          <p:cNvPr id="4" name="Shape 2"/>
          <p:cNvSpPr/>
          <p:nvPr/>
        </p:nvSpPr>
        <p:spPr>
          <a:xfrm>
            <a:off x="0" y="2743200"/>
            <a:ext cx="146304" cy="1371600"/>
          </a:xfrm>
          <a:prstGeom prst="rect">
            <a:avLst/>
          </a:prstGeom>
          <a:solidFill>
            <a:srgbClr val="1A5FB4"/>
          </a:solidFill>
          <a:ln w="12700">
            <a:solidFill>
              <a:srgbClr val="1A5FB4"/>
            </a:solidFill>
            <a:prstDash val="solid"/>
          </a:ln>
        </p:spPr>
      </p:sp>
      <p:sp>
        <p:nvSpPr>
          <p:cNvPr id="5" name="Shape 3"/>
          <p:cNvSpPr/>
          <p:nvPr/>
        </p:nvSpPr>
        <p:spPr>
          <a:xfrm>
            <a:off x="0" y="4114800"/>
            <a:ext cx="146304" cy="1371600"/>
          </a:xfrm>
          <a:prstGeom prst="rect">
            <a:avLst/>
          </a:prstGeom>
          <a:solidFill>
            <a:srgbClr val="6B3FA0"/>
          </a:solidFill>
          <a:ln w="12700">
            <a:solidFill>
              <a:srgbClr val="6B3FA0"/>
            </a:solidFill>
            <a:prstDash val="solid"/>
          </a:ln>
        </p:spPr>
      </p:sp>
      <p:sp>
        <p:nvSpPr>
          <p:cNvPr id="6" name="Shape 4"/>
          <p:cNvSpPr/>
          <p:nvPr/>
        </p:nvSpPr>
        <p:spPr>
          <a:xfrm>
            <a:off x="0" y="5486400"/>
            <a:ext cx="146304" cy="1371600"/>
          </a:xfrm>
          <a:prstGeom prst="rect">
            <a:avLst/>
          </a:prstGeom>
          <a:solidFill>
            <a:srgbClr val="1E7A46"/>
          </a:solidFill>
          <a:ln w="12700">
            <a:solidFill>
              <a:srgbClr val="1E7A46"/>
            </a:solidFill>
            <a:prstDash val="solid"/>
          </a:ln>
        </p:spPr>
      </p:sp>
      <p:sp>
        <p:nvSpPr>
          <p:cNvPr id="7" name="Text 5"/>
          <p:cNvSpPr/>
          <p:nvPr/>
        </p:nvSpPr>
        <p:spPr>
          <a:xfrm>
            <a:off x="640080" y="1051560"/>
            <a:ext cx="10881360" cy="868680"/>
          </a:xfrm>
          <a:prstGeom prst="rect">
            <a:avLst/>
          </a:prstGeom>
          <a:noFill/>
          <a:ln/>
        </p:spPr>
        <p:txBody>
          <a:bodyPr wrap="square" lIns="0" tIns="0" rIns="0" bIns="0" rtlCol="0" anchor="ctr"/>
          <a:lstStyle/>
          <a:p>
            <a:pPr indent="0" marL="0">
              <a:buNone/>
            </a:pPr>
            <a:r>
              <a:rPr lang="en-US" sz="2600" dirty="0">
                <a:solidFill>
                  <a:srgbClr val="FFFFFF"/>
                </a:solidFill>
                <a:latin typeface="IBM Plex Sans" pitchFamily="34" charset="0"/>
                <a:ea typeface="IBM Plex Sans" pitchFamily="34" charset="-122"/>
                <a:cs typeface="IBM Plex Sans" pitchFamily="34" charset="-120"/>
              </a:rPr>
              <a:t>If you can't see it, you can't own it.</a:t>
            </a:r>
            <a:endParaRPr lang="en-US" sz="2600" dirty="0"/>
          </a:p>
        </p:txBody>
      </p:sp>
      <p:sp>
        <p:nvSpPr>
          <p:cNvPr id="8" name="Text 6"/>
          <p:cNvSpPr/>
          <p:nvPr/>
        </p:nvSpPr>
        <p:spPr>
          <a:xfrm>
            <a:off x="640080" y="2468880"/>
            <a:ext cx="10881360" cy="1143000"/>
          </a:xfrm>
          <a:prstGeom prst="rect">
            <a:avLst/>
          </a:prstGeom>
          <a:noFill/>
          <a:ln/>
        </p:spPr>
        <p:txBody>
          <a:bodyPr wrap="square" lIns="0" tIns="0" rIns="0" bIns="0" rtlCol="0" anchor="ctr"/>
          <a:lstStyle/>
          <a:p>
            <a:pPr indent="0" marL="0">
              <a:buNone/>
            </a:pPr>
            <a:r>
              <a:rPr lang="en-US" sz="2200" dirty="0">
                <a:solidFill>
                  <a:srgbClr val="F4F7FA"/>
                </a:solidFill>
                <a:latin typeface="IBM Plex Sans" pitchFamily="34" charset="0"/>
                <a:ea typeface="IBM Plex Sans" pitchFamily="34" charset="-122"/>
                <a:cs typeface="IBM Plex Sans" pitchFamily="34" charset="-120"/>
              </a:rPr>
              <a:t>Best tool for each job gives you the best parts. The engineer still needs the whole picture.</a:t>
            </a:r>
            <a:endParaRPr lang="en-US" sz="2200" dirty="0"/>
          </a:p>
        </p:txBody>
      </p:sp>
      <p:sp>
        <p:nvSpPr>
          <p:cNvPr id="9" name="Text 7"/>
          <p:cNvSpPr/>
          <p:nvPr/>
        </p:nvSpPr>
        <p:spPr>
          <a:xfrm>
            <a:off x="640080" y="3886200"/>
            <a:ext cx="10881360" cy="868680"/>
          </a:xfrm>
          <a:prstGeom prst="rect">
            <a:avLst/>
          </a:prstGeom>
          <a:noFill/>
          <a:ln/>
        </p:spPr>
        <p:txBody>
          <a:bodyPr wrap="square" lIns="0" tIns="0" rIns="0" bIns="0" rtlCol="0" anchor="ctr"/>
          <a:lstStyle/>
          <a:p>
            <a:pPr indent="0" marL="0">
              <a:buNone/>
            </a:pPr>
            <a:r>
              <a:rPr lang="en-US" sz="2600" dirty="0">
                <a:solidFill>
                  <a:srgbClr val="E7C98A"/>
                </a:solidFill>
                <a:latin typeface="IBM Plex Sans" pitchFamily="34" charset="0"/>
                <a:ea typeface="IBM Plex Sans" pitchFamily="34" charset="-122"/>
                <a:cs typeface="IBM Plex Sans" pitchFamily="34" charset="-120"/>
              </a:rPr>
              <a:t>Looking, deciding, and loading are three different acts.</a:t>
            </a:r>
            <a:endParaRPr lang="en-US" sz="2600" dirty="0"/>
          </a:p>
        </p:txBody>
      </p:sp>
      <p:sp>
        <p:nvSpPr>
          <p:cNvPr id="10" name="Text 8"/>
          <p:cNvSpPr/>
          <p:nvPr/>
        </p:nvSpPr>
        <p:spPr>
          <a:xfrm>
            <a:off x="640080" y="6263640"/>
            <a:ext cx="9144000" cy="274320"/>
          </a:xfrm>
          <a:prstGeom prst="rect">
            <a:avLst/>
          </a:prstGeom>
          <a:noFill/>
          <a:ln/>
        </p:spPr>
        <p:txBody>
          <a:bodyPr wrap="square" lIns="0" tIns="0" rIns="0" bIns="0" rtlCol="0" anchor="ctr"/>
          <a:lstStyle/>
          <a:p>
            <a:pPr indent="0" marL="0">
              <a:buNone/>
            </a:pPr>
            <a:r>
              <a:rPr lang="en-US" sz="1400" dirty="0">
                <a:solidFill>
                  <a:srgbClr val="8A97A8"/>
                </a:solidFill>
                <a:latin typeface="IBM Plex Sans" pitchFamily="34" charset="0"/>
                <a:ea typeface="IBM Plex Sans" pitchFamily="34" charset="-122"/>
                <a:cs typeface="IBM Plex Sans" pitchFamily="34" charset="-120"/>
              </a:rPr>
              <a:t>Leave-behind: the architecture page.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Full-stack transparency</dc:title>
  <dc:subject>Design principles for a Data Vault you can own</dc:subject>
  <dc:creator>Matt Casters</dc:creator>
  <cp:lastModifiedBy>Matt Casters</cp:lastModifiedBy>
  <cp:revision>1</cp:revision>
  <dcterms:created xsi:type="dcterms:W3CDTF">2026-10-04T18:52:05Z</dcterms:created>
  <dcterms:modified xsi:type="dcterms:W3CDTF">2026-10-04T18:52:05Z</dcterms:modified>
</cp:coreProperties>
</file>